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seen the correct agentic loop pattern.</a:t>
            </a:r>
          </a:p>
          <a:p/>
          <a:p>
            <a:r>
              <a:t>Now let's look at the ways it breaks — because the exam is filled with questions where the wrong answer is one of these anti-patterns.</a:t>
            </a:r>
          </a:p>
          <a:p/>
          <a:p>
            <a:r>
              <a:t>These aren't edge cases. They're common intuitions that feel correct but aren't.</a:t>
            </a:r>
          </a:p>
          <a:p/>
          <a:p>
            <a:r>
              <a:t>Understanding why each one fails is what separates a candidate who understands the loop from one who merely memorized 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and most common anti-pattern: inspecting the response text to decide whether the loop should continue.</a:t>
            </a:r>
          </a:p>
          <a:p/>
          <a:p>
            <a:r>
              <a:t>Something like this: `if "I've completed your task" in response.text: break`.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wrong for two reasons.</a:t>
            </a:r>
          </a:p>
          <a:p/>
          <a:p>
            <a:r>
              <a:t>First, Claude's text output is non-deterministic. It might say "task complete" in different words each time, or not say it at all.</a:t>
            </a:r>
          </a:p>
          <a:p/>
          <a:p>
            <a:r>
              <a:t>Second, `stop_reason` is a structured API contract. It's always present, always precise, and always one of a defined set of values. It's designed specifically to communicate termination state.</a:t>
            </a:r>
          </a:p>
          <a:p/>
          <a:p>
            <a:r>
              <a:t>Using text parsing to replace a structured API signal is like checking email subject lines instead of HTTP status codes. The signal exists — use 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anti-pattern: using a for loop with a hard cap on iterations as the primary exit mechanism.</a:t>
            </a:r>
          </a:p>
          <a:p/>
          <a:p>
            <a:r>
              <a:t>Something like: `for attempt in range(10): ... if done: break`.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subtle. Iteration caps aren't *wrong* as safety guards. What's wrong is using them as the *primary* control signal.</a:t>
            </a:r>
          </a:p>
          <a:p/>
          <a:p>
            <a:r>
              <a:t>If the cap is reached before the task completes, you silently return a partial result. There's no error. No signal. The caller doesn't know why the loop ended.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pattern: use `while True` with `break` on `"end_turn"`. Add an iteration cap as a *safety guard* with explicit error handling — something like `if iterations &gt; MAX: raise AgentLoopError("Max iterations exceeded")`. The difference is intent: the loop is *designed* to exit on `end_turn`, and the cap is a failsafe for runaway loops.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Anti-pattern three: making the next API call without appending the tool results to the conversation history.</a:t>
            </a:r>
          </a:p>
          <a:p/>
          <a:p>
            <a:r>
              <a:t>Claude receives the next request. It has no memory of what the tool returned. So it either repeats the same tool call, or invents an answer based on what it thinks the tool probably returned.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happens when developers miss that tool results are sent as user messages. It's easy to forget because it feels redundant — you're the one who ran the tool, so why tell Claude what it returned?</a:t>
            </a:r>
          </a:p>
          <a:p/>
          <a:p>
            <a:r>
              <a:t>Because Claude doesn't have a side channel to your tool execution environment. It only knows what's in the message history. If you don't append the result, it's as if the tool never ran.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Anti-pattern four: stopping the agentic loop when a tool returns an error.</a:t>
            </a:r>
          </a:p>
          <a:p/>
          <a:p>
            <a:r>
              <a:t>When a tool fails, the instinct is to terminate — return an error to the user, stop looping.</a:t>
            </a:r>
          </a:p>
          <a:p/>
          <a:p>
            <a:r>
              <a:t>But that ignores something powerful: Claude can reason about errors.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approach: append the tool error as a `tool_result` with `is_error: true` in the content. Let Claude see what went wrong. Claude may decide to try a different tool, try different arguments, or acknowledge the error and explain it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Stopping on the first tool error collapses the agent's ability to recover. The exam will test this in scenarios where a tool fails partway through a multi-step workflow.</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catches candidates who understand the loop conceptually but haven't implemented it carefully.</a:t>
            </a:r>
          </a:p>
          <a:p/>
          <a:p>
            <a:r>
              <a:t>Tool results must be sent in **user** role messages. Not assistant messages.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will reject a tool_result block inside an assistant message, but the more dangerous failure is a malformed request that gets silently ignored. The conversation history becomes structurally invalid.</a:t>
            </a:r>
          </a:p>
          <a:p/>
          <a:p>
            <a:r>
              <a:t>Remember: from Claude's perspective, user messages represent information coming *from* the external environment. Tool results are exactly that — data from outside Claude, delivered back into the conversation. They belong in user messages.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anti-pattern in this lecture appears as a distractor somewhere in the practice exam.</a:t>
            </a:r>
          </a:p>
          <a:p/>
          <a:p>
            <a:r>
              <a:t>When you see an answer choice that parses response text, uses a for loop with a cap, skips tool result appending, stops on tool errors, or puts tool results in an assistant message — it's wrong.</a:t>
            </a:r>
          </a:p>
          <a:p/>
          <a:p>
            <a:r>
              <a:t>The exam is testing whether you can recognize the pattern, not just recall the rules.</a:t>
            </a:r>
          </a:p>
          <a:p/>
          <a:p>
            <a:r>
              <a:t>If you're stuck between two choices, ask: which one reads `stop_reason` and follows the message structure contract? That's the right answer.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**Text parsing for completion** — use `stop_reason`, not response content</a:t>
            </a:r>
          </a:p>
          <a:p>
            <a:r>
              <a:t>2. **Iteration caps as primary exit** — use `while True + break on end_turn`; caps are safety guards only</a:t>
            </a:r>
          </a:p>
          <a:p>
            <a:r>
              <a:t>3. **Skipping tool result appending** — always append BOTH the assistant msg AND the tool results</a:t>
            </a:r>
          </a:p>
          <a:p>
            <a:r>
              <a:t>4. **Stopping on tool errors** — append errors as `is_error: true` tool_results and let Claude reason</a:t>
            </a:r>
          </a:p>
          <a:p>
            <a:r>
              <a:t>5. **Tool results in assistant messages** — tool results belong in **user** role messages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How Agentic Loops Break</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You've seen the correct agentic loop pattern.</a:t>
            </a:r>
          </a:p>
          <a:p>
            <a:pPr>
              <a:spcBef>
                <a:spcPts val="400"/>
              </a:spcBef>
            </a:pPr>
            <a:r>
              <a:rPr sz="2000">
                <a:solidFill>
                  <a:srgbClr val="111928"/>
                </a:solidFill>
                <a:latin typeface="Calibri"/>
              </a:rPr>
              <a:t>Now let's look at the ways it breaks — because the exam is filled with questions where the wrong answer is one of these anti-patterns.</a:t>
            </a:r>
          </a:p>
          <a:p>
            <a:pPr>
              <a:spcBef>
                <a:spcPts val="400"/>
              </a:spcBef>
            </a:pPr>
            <a:r>
              <a:rPr sz="2000">
                <a:solidFill>
                  <a:srgbClr val="111928"/>
                </a:solidFill>
                <a:latin typeface="Calibri"/>
              </a:rPr>
              <a:t>These aren't edge cases. They're common intuitions that feel correct but aren't.</a:t>
            </a:r>
          </a:p>
          <a:p>
            <a:pPr>
              <a:spcBef>
                <a:spcPts val="400"/>
              </a:spcBef>
            </a:pPr>
            <a:r>
              <a:rPr sz="2000">
                <a:solidFill>
                  <a:srgbClr val="111928"/>
                </a:solidFill>
                <a:latin typeface="Calibri"/>
              </a:rPr>
              <a:t>Understanding why each one fails is what separates a candidate who understands the loop from one who merely memorized it.</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D3D"/>
        </a:solidFill>
        <a:effectLst/>
      </p:bgPr>
    </p:bg>
    <p:spTree>
      <p:nvGrpSpPr>
        <p:cNvPr id="1" name=""/>
        <p:cNvGrpSpPr/>
        <p:nvPr/>
      </p:nvGrpSpPr>
      <p:grpSpPr/>
      <p:sp>
        <p:nvSpPr>
          <p:cNvPr id="2" name="Rectangle 1"/>
          <p:cNvSpPr/>
          <p:nvPr/>
        </p:nvSpPr>
        <p:spPr>
          <a:xfrm>
            <a:off x="0" y="1005840"/>
            <a:ext cx="12191695" cy="36576"/>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47120" cy="868680"/>
          </a:xfrm>
          <a:prstGeom prst="rect">
            <a:avLst/>
          </a:prstGeom>
          <a:noFill/>
        </p:spPr>
        <p:txBody>
          <a:bodyPr wrap="square">
            <a:spAutoFit/>
          </a:bodyPr>
          <a:lstStyle/>
          <a:p>
            <a:pPr algn="l"/>
            <a:r>
              <a:rPr sz="3200" b="1" i="0">
                <a:solidFill>
                  <a:srgbClr val="FFFFFF"/>
                </a:solidFill>
                <a:latin typeface="Calibri"/>
              </a:rPr>
              <a:t>Anti-Pattern 1 — Parsing Text to Detect Completion</a:t>
            </a:r>
          </a:p>
        </p:txBody>
      </p:sp>
      <p:sp>
        <p:nvSpPr>
          <p:cNvPr id="4" name="Rectangle 3"/>
          <p:cNvSpPr/>
          <p:nvPr/>
        </p:nvSpPr>
        <p:spPr>
          <a:xfrm>
            <a:off x="365760" y="1143000"/>
            <a:ext cx="11430000" cy="5212080"/>
          </a:xfrm>
          <a:prstGeom prst="rect">
            <a:avLst/>
          </a:prstGeom>
          <a:solidFill>
            <a:srgbClr val="15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1064240" cy="4937760"/>
          </a:xfrm>
          <a:prstGeom prst="rect">
            <a:avLst/>
          </a:prstGeom>
          <a:noFill/>
        </p:spPr>
        <p:txBody>
          <a:bodyPr wrap="none">
            <a:spAutoFit/>
          </a:bodyPr>
          <a:lstStyle/>
          <a:p>
            <a:r>
              <a:rPr sz="1400">
                <a:solidFill>
                  <a:srgbClr val="A8D5C2"/>
                </a:solidFill>
                <a:latin typeface="Courier New"/>
              </a:rPr>
              <a:t>The first and most common anti-pattern: inspecting the response text to decide whether the loop should continue.</a:t>
            </a:r>
            <a:br/>
            <a:br/>
            <a:r>
              <a:t>Something like this: `if "I've completed your task" in response.text: break`.</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D3D"/>
        </a:solidFill>
        <a:effectLst/>
      </p:bgPr>
    </p:bg>
    <p:spTree>
      <p:nvGrpSpPr>
        <p:cNvPr id="1" name=""/>
        <p:cNvGrpSpPr/>
        <p:nvPr/>
      </p:nvGrpSpPr>
      <p:grpSpPr/>
      <p:sp>
        <p:nvSpPr>
          <p:cNvPr id="2" name="Rectangle 1"/>
          <p:cNvSpPr/>
          <p:nvPr/>
        </p:nvSpPr>
        <p:spPr>
          <a:xfrm>
            <a:off x="0" y="1005840"/>
            <a:ext cx="12191695" cy="36576"/>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47120" cy="868680"/>
          </a:xfrm>
          <a:prstGeom prst="rect">
            <a:avLst/>
          </a:prstGeom>
          <a:noFill/>
        </p:spPr>
        <p:txBody>
          <a:bodyPr wrap="square">
            <a:spAutoFit/>
          </a:bodyPr>
          <a:lstStyle/>
          <a:p>
            <a:pPr algn="l"/>
            <a:r>
              <a:rPr sz="3200" b="1" i="0">
                <a:solidFill>
                  <a:srgbClr val="FFFFFF"/>
                </a:solidFill>
                <a:latin typeface="Calibri"/>
              </a:rPr>
              <a:t>Anti-Pattern 1 — Parsing Text to Detect Completion (cont.)</a:t>
            </a:r>
          </a:p>
        </p:txBody>
      </p:sp>
      <p:sp>
        <p:nvSpPr>
          <p:cNvPr id="4" name="Rectangle 3"/>
          <p:cNvSpPr/>
          <p:nvPr/>
        </p:nvSpPr>
        <p:spPr>
          <a:xfrm>
            <a:off x="365760" y="1143000"/>
            <a:ext cx="11430000" cy="5212080"/>
          </a:xfrm>
          <a:prstGeom prst="rect">
            <a:avLst/>
          </a:prstGeom>
          <a:solidFill>
            <a:srgbClr val="15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1064240" cy="4937760"/>
          </a:xfrm>
          <a:prstGeom prst="rect">
            <a:avLst/>
          </a:prstGeom>
          <a:noFill/>
        </p:spPr>
        <p:txBody>
          <a:bodyPr wrap="none">
            <a:spAutoFit/>
          </a:bodyPr>
          <a:lstStyle/>
          <a:p>
            <a:r>
              <a:rPr sz="1400">
                <a:solidFill>
                  <a:srgbClr val="A8D5C2"/>
                </a:solidFill>
                <a:latin typeface="Courier New"/>
              </a:rPr>
              <a:t>This is wrong for two reasons.</a:t>
            </a:r>
            <a:br/>
            <a:br/>
            <a:r>
              <a:t>First, Claude's text output is non-deterministic. It might say "task complete" in different words each time, or not say it at all.</a:t>
            </a:r>
            <a:br/>
            <a:br/>
            <a:r>
              <a:t>Second, `stop_reason` is a structured API contract. It's always present, always precise, and always one of a defined set of values. It's designed specifically to communicate termination state.</a:t>
            </a:r>
            <a:br/>
            <a:br/>
            <a:r>
              <a:t>Using text parsing to replace a structured</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D3D"/>
        </a:solidFill>
        <a:effectLst/>
      </p:bgPr>
    </p:bg>
    <p:spTree>
      <p:nvGrpSpPr>
        <p:cNvPr id="1" name=""/>
        <p:cNvGrpSpPr/>
        <p:nvPr/>
      </p:nvGrpSpPr>
      <p:grpSpPr/>
      <p:sp>
        <p:nvSpPr>
          <p:cNvPr id="2" name="Rectangle 1"/>
          <p:cNvSpPr/>
          <p:nvPr/>
        </p:nvSpPr>
        <p:spPr>
          <a:xfrm>
            <a:off x="0" y="1005840"/>
            <a:ext cx="12191695" cy="36576"/>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47120" cy="868680"/>
          </a:xfrm>
          <a:prstGeom prst="rect">
            <a:avLst/>
          </a:prstGeom>
          <a:noFill/>
        </p:spPr>
        <p:txBody>
          <a:bodyPr wrap="square">
            <a:spAutoFit/>
          </a:bodyPr>
          <a:lstStyle/>
          <a:p>
            <a:pPr algn="l"/>
            <a:r>
              <a:rPr sz="3200" b="1" i="0">
                <a:solidFill>
                  <a:srgbClr val="FFFFFF"/>
                </a:solidFill>
                <a:latin typeface="Calibri"/>
              </a:rPr>
              <a:t>Anti-Pattern 2 — Using Iteration Caps as the Primary Exit</a:t>
            </a:r>
          </a:p>
        </p:txBody>
      </p:sp>
      <p:sp>
        <p:nvSpPr>
          <p:cNvPr id="4" name="Rectangle 3"/>
          <p:cNvSpPr/>
          <p:nvPr/>
        </p:nvSpPr>
        <p:spPr>
          <a:xfrm>
            <a:off x="365760" y="1143000"/>
            <a:ext cx="11430000" cy="5212080"/>
          </a:xfrm>
          <a:prstGeom prst="rect">
            <a:avLst/>
          </a:prstGeom>
          <a:solidFill>
            <a:srgbClr val="15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1064240" cy="4937760"/>
          </a:xfrm>
          <a:prstGeom prst="rect">
            <a:avLst/>
          </a:prstGeom>
          <a:noFill/>
        </p:spPr>
        <p:txBody>
          <a:bodyPr wrap="none">
            <a:spAutoFit/>
          </a:bodyPr>
          <a:lstStyle/>
          <a:p>
            <a:r>
              <a:rPr sz="1400">
                <a:solidFill>
                  <a:srgbClr val="A8D5C2"/>
                </a:solidFill>
                <a:latin typeface="Courier New"/>
              </a:rPr>
              <a:t>The second anti-pattern: using a for loop with a hard cap on iterations as the primary exit mechanism.</a:t>
            </a:r>
            <a:br/>
            <a:br/>
            <a:r>
              <a:t>Something like: `for attempt in range(10): ... if done: break`.</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D3D"/>
        </a:solidFill>
        <a:effectLst/>
      </p:bgPr>
    </p:bg>
    <p:spTree>
      <p:nvGrpSpPr>
        <p:cNvPr id="1" name=""/>
        <p:cNvGrpSpPr/>
        <p:nvPr/>
      </p:nvGrpSpPr>
      <p:grpSpPr/>
      <p:sp>
        <p:nvSpPr>
          <p:cNvPr id="2" name="Rectangle 1"/>
          <p:cNvSpPr/>
          <p:nvPr/>
        </p:nvSpPr>
        <p:spPr>
          <a:xfrm>
            <a:off x="0" y="1005840"/>
            <a:ext cx="12191695" cy="36576"/>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47120" cy="868680"/>
          </a:xfrm>
          <a:prstGeom prst="rect">
            <a:avLst/>
          </a:prstGeom>
          <a:noFill/>
        </p:spPr>
        <p:txBody>
          <a:bodyPr wrap="square">
            <a:spAutoFit/>
          </a:bodyPr>
          <a:lstStyle/>
          <a:p>
            <a:pPr algn="l"/>
            <a:r>
              <a:rPr sz="3200" b="1" i="0">
                <a:solidFill>
                  <a:srgbClr val="FFFFFF"/>
                </a:solidFill>
                <a:latin typeface="Calibri"/>
              </a:rPr>
              <a:t>Anti-Pattern 2 — Using Iteration Caps as the Primary Exit (cont.)</a:t>
            </a:r>
          </a:p>
        </p:txBody>
      </p:sp>
      <p:sp>
        <p:nvSpPr>
          <p:cNvPr id="4" name="Rectangle 3"/>
          <p:cNvSpPr/>
          <p:nvPr/>
        </p:nvSpPr>
        <p:spPr>
          <a:xfrm>
            <a:off x="365760" y="1143000"/>
            <a:ext cx="11430000" cy="5212080"/>
          </a:xfrm>
          <a:prstGeom prst="rect">
            <a:avLst/>
          </a:prstGeom>
          <a:solidFill>
            <a:srgbClr val="15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1064240" cy="4937760"/>
          </a:xfrm>
          <a:prstGeom prst="rect">
            <a:avLst/>
          </a:prstGeom>
          <a:noFill/>
        </p:spPr>
        <p:txBody>
          <a:bodyPr wrap="none">
            <a:spAutoFit/>
          </a:bodyPr>
          <a:lstStyle/>
          <a:p>
            <a:r>
              <a:rPr sz="1400">
                <a:solidFill>
                  <a:srgbClr val="A8D5C2"/>
                </a:solidFill>
                <a:latin typeface="Courier New"/>
              </a:rPr>
              <a:t>The problem is subtle. Iteration caps aren't *wrong* as safety guards. What's wrong is using them as the *primary* control signal.</a:t>
            </a:r>
            <a:br/>
            <a:br/>
            <a:r>
              <a:t>If the cap is reached before the task completes, you silently return a partial result. There's no error. No signal. The caller doesn't know why the loop ended.</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D3D"/>
        </a:solidFill>
        <a:effectLst/>
      </p:bgPr>
    </p:bg>
    <p:spTree>
      <p:nvGrpSpPr>
        <p:cNvPr id="1" name=""/>
        <p:cNvGrpSpPr/>
        <p:nvPr/>
      </p:nvGrpSpPr>
      <p:grpSpPr/>
      <p:sp>
        <p:nvSpPr>
          <p:cNvPr id="2" name="Rectangle 1"/>
          <p:cNvSpPr/>
          <p:nvPr/>
        </p:nvSpPr>
        <p:spPr>
          <a:xfrm>
            <a:off x="0" y="1005840"/>
            <a:ext cx="12191695" cy="36576"/>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47120" cy="868680"/>
          </a:xfrm>
          <a:prstGeom prst="rect">
            <a:avLst/>
          </a:prstGeom>
          <a:noFill/>
        </p:spPr>
        <p:txBody>
          <a:bodyPr wrap="square">
            <a:spAutoFit/>
          </a:bodyPr>
          <a:lstStyle/>
          <a:p>
            <a:pPr algn="l"/>
            <a:r>
              <a:rPr sz="3200" b="1" i="0">
                <a:solidFill>
                  <a:srgbClr val="FFFFFF"/>
                </a:solidFill>
                <a:latin typeface="Calibri"/>
              </a:rPr>
              <a:t>Anti-Pattern 2 — Using Iteration Caps as the Primary Exit (cont.)</a:t>
            </a:r>
          </a:p>
        </p:txBody>
      </p:sp>
      <p:sp>
        <p:nvSpPr>
          <p:cNvPr id="4" name="Rectangle 3"/>
          <p:cNvSpPr/>
          <p:nvPr/>
        </p:nvSpPr>
        <p:spPr>
          <a:xfrm>
            <a:off x="365760" y="1143000"/>
            <a:ext cx="11430000" cy="5212080"/>
          </a:xfrm>
          <a:prstGeom prst="rect">
            <a:avLst/>
          </a:prstGeom>
          <a:solidFill>
            <a:srgbClr val="15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1064240" cy="4937760"/>
          </a:xfrm>
          <a:prstGeom prst="rect">
            <a:avLst/>
          </a:prstGeom>
          <a:noFill/>
        </p:spPr>
        <p:txBody>
          <a:bodyPr wrap="none">
            <a:spAutoFit/>
          </a:bodyPr>
          <a:lstStyle/>
          <a:p>
            <a:r>
              <a:rPr sz="1400">
                <a:solidFill>
                  <a:srgbClr val="A8D5C2"/>
                </a:solidFill>
                <a:latin typeface="Courier New"/>
              </a:rPr>
              <a:t>The correct pattern: use `while True` with `break` on `"end_turn"`. Add an iteration cap as a *safety guard* with explicit error handling — something like `if iterations &gt; MAX: raise AgentLoopError("Max iterations exceeded")`. The difference is intent: the loop is *designed* to exit on `end_turn`, and the cap is a failsafe for runaway loops.</a:t>
            </a:r>
            <a:br/>
            <a:br/>
            <a: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Anti-Pattern 3 — Skipping Tool Result Appending</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Anti-pattern three: making the next API call without appending the tool results to the conversation history.</a:t>
            </a:r>
          </a:p>
          <a:p>
            <a:pPr>
              <a:spcBef>
                <a:spcPts val="400"/>
              </a:spcBef>
            </a:pPr>
            <a:r>
              <a:rPr sz="2000">
                <a:solidFill>
                  <a:srgbClr val="111928"/>
                </a:solidFill>
                <a:latin typeface="Calibri"/>
              </a:rPr>
              <a:t>Claude receives the next request. It has no memory of what the tool returned. So it either repeats the same tool call, or invents an answer based on what it thinks the tool probably returned.</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Anti-Pattern 3 — Skipping Tool Result Appending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This happens when developers miss that tool results are sent as user messages. It's easy to forget because it feels redundant — you're the one who ran the tool, so why tell Claude what it returned?</a:t>
            </a:r>
          </a:p>
          <a:p>
            <a:pPr>
              <a:spcBef>
                <a:spcPts val="400"/>
              </a:spcBef>
            </a:pPr>
            <a:r>
              <a:rPr sz="2000">
                <a:solidFill>
                  <a:srgbClr val="111928"/>
                </a:solidFill>
                <a:latin typeface="Calibri"/>
              </a:rPr>
              <a:t>Because Claude doesn't have a side channel to your tool execution environment. It only knows what's in the message history. If you don't append the result, it's as if the tool never ran.</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Anti-Pattern 4 — Treating Tool Errors as end_turn</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Anti-pattern four: stopping the agentic loop when a tool returns an error.</a:t>
            </a:r>
          </a:p>
          <a:p>
            <a:pPr>
              <a:spcBef>
                <a:spcPts val="400"/>
              </a:spcBef>
            </a:pPr>
            <a:r>
              <a:rPr sz="2000">
                <a:solidFill>
                  <a:srgbClr val="111928"/>
                </a:solidFill>
                <a:latin typeface="Calibri"/>
              </a:rPr>
              <a:t>When a tool fails, the instinct is to terminate — return an error to the user, stop looping.</a:t>
            </a:r>
          </a:p>
          <a:p>
            <a:pPr>
              <a:spcBef>
                <a:spcPts val="400"/>
              </a:spcBef>
            </a:pPr>
            <a:r>
              <a:rPr sz="2000">
                <a:solidFill>
                  <a:srgbClr val="111928"/>
                </a:solidFill>
                <a:latin typeface="Calibri"/>
              </a:rPr>
              <a:t>But that ignores something powerful: Claude can reason about errors.</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Anti-Pattern 4 — Treating Tool Errors as end_turn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correct approach: append the tool error as a `tool_result` with `is_error: true` in the content. Let Claude see what went wrong. Claude may decide to try a different tool, try different arguments, or acknowledge the error and explain it to the user.</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Anti-Pattern 4 — Treating Tool Errors as end_turn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Stopping on the first tool error collapses the agent's ability to recover. The exam will test this in scenarios where a tool fails partway through a multi-step workflow.</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Anti-Pattern 5 — Sending Tool Results as Assistant Messages</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This one catches candidates who understand the loop conceptually but haven't implemented it carefully.</a:t>
            </a:r>
          </a:p>
          <a:p>
            <a:pPr>
              <a:spcBef>
                <a:spcPts val="400"/>
              </a:spcBef>
            </a:pPr>
            <a:r>
              <a:rPr sz="2000">
                <a:solidFill>
                  <a:srgbClr val="111928"/>
                </a:solidFill>
                <a:latin typeface="Calibri"/>
              </a:rPr>
              <a:t>Tool results must be sent in **user** role messages. Not assistant messages.</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Anti-Pattern 5 — Sending Tool Results as Assistant Messages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API will reject a tool_result block inside an assistant message, but the more dangerous failure is a malformed request that gets silently ignored. The conversation history becomes structurally invalid.</a:t>
            </a:r>
          </a:p>
          <a:p>
            <a:pPr>
              <a:spcBef>
                <a:spcPts val="400"/>
              </a:spcBef>
            </a:pPr>
            <a:r>
              <a:rPr sz="2000">
                <a:solidFill>
                  <a:srgbClr val="111928"/>
                </a:solidFill>
                <a:latin typeface="Calibri"/>
              </a:rPr>
              <a:t>Remember: from Claude's perspective, user messages represent information coming *from* the external environment. Tool results are exactly that — data from outside Claude, delivered back into the conversation. They belong in user messages.</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lgn="ctr"/>
            <a:r>
              <a:rPr sz="3600" b="1" i="0">
                <a:solidFill>
                  <a:srgbClr val="FFFFFF"/>
                </a:solidFill>
                <a:latin typeface="Calibri"/>
              </a:rPr>
              <a:t>EXAM TIP</a:t>
            </a:r>
          </a:p>
        </p:txBody>
      </p:sp>
      <p:sp>
        <p:nvSpPr>
          <p:cNvPr id="4" name="TextBox 3"/>
          <p:cNvSpPr txBox="1"/>
          <p:nvPr/>
        </p:nvSpPr>
        <p:spPr>
          <a:xfrm>
            <a:off x="457200" y="1325880"/>
            <a:ext cx="11277295" cy="640080"/>
          </a:xfrm>
          <a:prstGeom prst="rect">
            <a:avLst/>
          </a:prstGeom>
          <a:noFill/>
        </p:spPr>
        <p:txBody>
          <a:bodyPr wrap="square">
            <a:spAutoFit/>
          </a:bodyPr>
          <a:lstStyle/>
          <a:p>
            <a:pPr algn="ctr"/>
            <a:r>
              <a:rPr sz="2200" b="1" i="0">
                <a:solidFill>
                  <a:srgbClr val="1A3A4A"/>
                </a:solidFill>
                <a:latin typeface="Calibri"/>
              </a:rPr>
              <a:t>Exam Tip</a:t>
            </a:r>
          </a:p>
        </p:txBody>
      </p:sp>
      <p:sp>
        <p:nvSpPr>
          <p:cNvPr id="5" name="Rectangle 4"/>
          <p:cNvSpPr/>
          <p:nvPr/>
        </p:nvSpPr>
        <p:spPr>
          <a:xfrm>
            <a:off x="365760" y="2103120"/>
            <a:ext cx="5303520" cy="4114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4937760" cy="457200"/>
          </a:xfrm>
          <a:prstGeom prst="rect">
            <a:avLst/>
          </a:prstGeom>
          <a:noFill/>
        </p:spPr>
        <p:txBody>
          <a:bodyPr wrap="square">
            <a:spAutoFit/>
          </a:bodyPr>
          <a:lstStyle/>
          <a:p>
            <a:pPr algn="l"/>
            <a:r>
              <a:rPr sz="1800" b="1" i="0">
                <a:solidFill>
                  <a:srgbClr val="C0392B"/>
                </a:solidFill>
                <a:latin typeface="Calibri"/>
              </a:rPr>
              <a:t>The Trap</a:t>
            </a:r>
          </a:p>
        </p:txBody>
      </p:sp>
      <p:sp>
        <p:nvSpPr>
          <p:cNvPr id="7" name="TextBox 6"/>
          <p:cNvSpPr txBox="1"/>
          <p:nvPr/>
        </p:nvSpPr>
        <p:spPr>
          <a:xfrm>
            <a:off x="548640" y="2743200"/>
            <a:ext cx="4937760" cy="3200400"/>
          </a:xfrm>
          <a:prstGeom prst="rect">
            <a:avLst/>
          </a:prstGeom>
          <a:noFill/>
        </p:spPr>
        <p:txBody>
          <a:bodyPr wrap="square">
            <a:spAutoFit/>
          </a:bodyPr>
          <a:lstStyle/>
          <a:p>
            <a:pPr algn="l"/>
            <a:r>
              <a:rPr sz="1600" b="0" i="0">
                <a:solidFill>
                  <a:srgbClr val="111928"/>
                </a:solidFill>
                <a:latin typeface="Calibri"/>
              </a:rPr>
              <a:t>Every anti-pattern in this lecture appears as a distractor somewhere in the practice exam.</a:t>
            </a:r>
            <a:br/>
            <a:br/>
            <a:r>
              <a:t>When you see an answer choice that parses response text, uses a for loop with a cap, skips tool result appen</a:t>
            </a:r>
          </a:p>
        </p:txBody>
      </p:sp>
      <p:sp>
        <p:nvSpPr>
          <p:cNvPr id="8" name="Rectangle 7"/>
          <p:cNvSpPr/>
          <p:nvPr/>
        </p:nvSpPr>
        <p:spPr>
          <a:xfrm>
            <a:off x="6522415" y="2103120"/>
            <a:ext cx="5303520" cy="4114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295" y="2194560"/>
            <a:ext cx="4937760" cy="457200"/>
          </a:xfrm>
          <a:prstGeom prst="rect">
            <a:avLst/>
          </a:prstGeom>
          <a:noFill/>
        </p:spPr>
        <p:txBody>
          <a:bodyPr wrap="square">
            <a:spAutoFit/>
          </a:bodyPr>
          <a:lstStyle/>
          <a:p>
            <a:pPr algn="l"/>
            <a:r>
              <a:rPr sz="1800" b="1" i="0">
                <a:solidFill>
                  <a:srgbClr val="1B8A5A"/>
                </a:solidFill>
                <a:latin typeface="Calibri"/>
              </a:rPr>
              <a:t>Correct Approach</a:t>
            </a:r>
          </a:p>
        </p:txBody>
      </p:sp>
      <p:sp>
        <p:nvSpPr>
          <p:cNvPr id="10" name="TextBox 9"/>
          <p:cNvSpPr txBox="1"/>
          <p:nvPr/>
        </p:nvSpPr>
        <p:spPr>
          <a:xfrm>
            <a:off x="6705295" y="2743200"/>
            <a:ext cx="4937760" cy="3200400"/>
          </a:xfrm>
          <a:prstGeom prst="rect">
            <a:avLst/>
          </a:prstGeom>
          <a:noFill/>
        </p:spPr>
        <p:txBody>
          <a:bodyPr wrap="square">
            <a:spAutoFit/>
          </a:bodyPr>
          <a:lstStyle/>
          <a:p>
            <a:pPr algn="l"/>
            <a:r>
              <a:rPr sz="1600" b="0" i="0">
                <a:solidFill>
                  <a:srgbClr val="111928"/>
                </a:solidFill>
                <a:latin typeface="Calibri"/>
              </a:rPr>
              <a:t/>
            </a:r>
          </a:p>
        </p:txBody>
      </p:sp>
      <p:pic>
        <p:nvPicPr>
          <p:cNvPr id="11" name="Picture 10"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3A4A"/>
        </a:solidFill>
        <a:effectLst/>
      </p:bgPr>
    </p:bg>
    <p:spTree>
      <p:nvGrpSpPr>
        <p:cNvPr id="1" name=""/>
        <p:cNvGrpSpPr/>
        <p:nvPr/>
      </p:nvGrpSpPr>
      <p:grpSpPr/>
      <p:sp>
        <p:nvSpPr>
          <p:cNvPr id="2" name="Rectangle 1"/>
          <p:cNvSpPr/>
          <p:nvPr/>
        </p:nvSpPr>
        <p:spPr>
          <a:xfrm>
            <a:off x="0" y="4572000"/>
            <a:ext cx="12191695" cy="228600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75488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7295" cy="822960"/>
          </a:xfrm>
          <a:prstGeom prst="rect">
            <a:avLst/>
          </a:prstGeom>
          <a:noFill/>
        </p:spPr>
        <p:txBody>
          <a:bodyPr wrap="square">
            <a:spAutoFit/>
          </a:bodyPr>
          <a:lstStyle/>
          <a:p>
            <a:pPr algn="l"/>
            <a:r>
              <a:rPr sz="3600" b="1" i="0">
                <a:solidFill>
                  <a:srgbClr val="FFFFFF"/>
                </a:solidFill>
                <a:latin typeface="Calibri"/>
              </a:rPr>
              <a:t>What to Remember</a:t>
            </a:r>
          </a:p>
        </p:txBody>
      </p:sp>
      <p:sp>
        <p:nvSpPr>
          <p:cNvPr id="5" name="Rectangle 4"/>
          <p:cNvSpPr/>
          <p:nvPr/>
        </p:nvSpPr>
        <p:spPr>
          <a:xfrm>
            <a:off x="457200" y="1051560"/>
            <a:ext cx="11277295" cy="36576"/>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34440"/>
            <a:ext cx="10972800" cy="594360"/>
          </a:xfrm>
          <a:prstGeom prst="rect">
            <a:avLst/>
          </a:prstGeom>
          <a:noFill/>
        </p:spPr>
        <p:txBody>
          <a:bodyPr wrap="square">
            <a:spAutoFit/>
          </a:bodyPr>
          <a:lstStyle/>
          <a:p>
            <a:pPr algn="l"/>
            <a:r>
              <a:rPr sz="2000" b="0" i="0">
                <a:solidFill>
                  <a:srgbClr val="FFFFFF"/>
                </a:solidFill>
                <a:latin typeface="Calibri"/>
              </a:rPr>
              <a:t>1. **Text parsing for completion** — use `stop_reason`, not response content</a:t>
            </a:r>
          </a:p>
        </p:txBody>
      </p:sp>
      <p:sp>
        <p:nvSpPr>
          <p:cNvPr id="8" name="Rectangle 7"/>
          <p:cNvSpPr/>
          <p:nvPr/>
        </p:nvSpPr>
        <p:spPr>
          <a:xfrm>
            <a:off x="457200" y="1984248"/>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92808"/>
            <a:ext cx="10972800" cy="594360"/>
          </a:xfrm>
          <a:prstGeom prst="rect">
            <a:avLst/>
          </a:prstGeom>
          <a:noFill/>
        </p:spPr>
        <p:txBody>
          <a:bodyPr wrap="square">
            <a:spAutoFit/>
          </a:bodyPr>
          <a:lstStyle/>
          <a:p>
            <a:pPr algn="l"/>
            <a:r>
              <a:rPr sz="2000" b="0" i="0">
                <a:solidFill>
                  <a:srgbClr val="FFFFFF"/>
                </a:solidFill>
                <a:latin typeface="Calibri"/>
              </a:rPr>
              <a:t>2. **Iteration caps as primary exit** — use `while True + break on end_turn`; caps are safety guards only</a:t>
            </a:r>
          </a:p>
        </p:txBody>
      </p:sp>
      <p:sp>
        <p:nvSpPr>
          <p:cNvPr id="10" name="Rectangle 9"/>
          <p:cNvSpPr/>
          <p:nvPr/>
        </p:nvSpPr>
        <p:spPr>
          <a:xfrm>
            <a:off x="457200" y="2642616"/>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51176"/>
            <a:ext cx="10972800" cy="594360"/>
          </a:xfrm>
          <a:prstGeom prst="rect">
            <a:avLst/>
          </a:prstGeom>
          <a:noFill/>
        </p:spPr>
        <p:txBody>
          <a:bodyPr wrap="square">
            <a:spAutoFit/>
          </a:bodyPr>
          <a:lstStyle/>
          <a:p>
            <a:pPr algn="l"/>
            <a:r>
              <a:rPr sz="2000" b="0" i="0">
                <a:solidFill>
                  <a:srgbClr val="FFFFFF"/>
                </a:solidFill>
                <a:latin typeface="Calibri"/>
              </a:rPr>
              <a:t>3. **Skipping tool result appending** — always append BOTH the assistant msg AND the tool results</a:t>
            </a:r>
          </a:p>
        </p:txBody>
      </p:sp>
      <p:sp>
        <p:nvSpPr>
          <p:cNvPr id="12" name="Rectangle 11"/>
          <p:cNvSpPr/>
          <p:nvPr/>
        </p:nvSpPr>
        <p:spPr>
          <a:xfrm>
            <a:off x="457200" y="3300984"/>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9544"/>
            <a:ext cx="10972800" cy="594360"/>
          </a:xfrm>
          <a:prstGeom prst="rect">
            <a:avLst/>
          </a:prstGeom>
          <a:noFill/>
        </p:spPr>
        <p:txBody>
          <a:bodyPr wrap="square">
            <a:spAutoFit/>
          </a:bodyPr>
          <a:lstStyle/>
          <a:p>
            <a:pPr algn="l"/>
            <a:r>
              <a:rPr sz="2000" b="0" i="0">
                <a:solidFill>
                  <a:srgbClr val="FFFFFF"/>
                </a:solidFill>
                <a:latin typeface="Calibri"/>
              </a:rPr>
              <a:t>4. **Stopping on tool errors** — append errors as `is_error: true` tool_results and let Claude reason</a:t>
            </a:r>
          </a:p>
        </p:txBody>
      </p:sp>
      <p:sp>
        <p:nvSpPr>
          <p:cNvPr id="14" name="Rectangle 13"/>
          <p:cNvSpPr/>
          <p:nvPr/>
        </p:nvSpPr>
        <p:spPr>
          <a:xfrm>
            <a:off x="457200" y="3959352"/>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67912"/>
            <a:ext cx="10972800" cy="594360"/>
          </a:xfrm>
          <a:prstGeom prst="rect">
            <a:avLst/>
          </a:prstGeom>
          <a:noFill/>
        </p:spPr>
        <p:txBody>
          <a:bodyPr wrap="square">
            <a:spAutoFit/>
          </a:bodyPr>
          <a:lstStyle/>
          <a:p>
            <a:pPr algn="l"/>
            <a:r>
              <a:rPr sz="2000" b="0" i="0">
                <a:solidFill>
                  <a:srgbClr val="FFFFFF"/>
                </a:solidFill>
                <a:latin typeface="Calibri"/>
              </a:rPr>
              <a:t>5. **Tool results in assistant messages** — tool results belong in **user** role messages</a:t>
            </a:r>
          </a:p>
        </p:txBody>
      </p:sp>
      <p:pic>
        <p:nvPicPr>
          <p:cNvPr id="16" name="Picture 1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