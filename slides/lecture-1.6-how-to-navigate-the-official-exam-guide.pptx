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Anthropic publishes an official exam guide for the CCA-F certification.</a:t>
            </a:r>
          </a:p>
          <a:p/>
          <a:p>
            <a:r>
              <a:t>Most candidates read it once, acknowledge it exists, and then set it aside.</a:t>
            </a:r>
          </a:p>
          <a:p/>
          <a:p>
            <a:r>
              <a:t>That's a mistake.</a:t>
            </a:r>
          </a:p>
          <a:p/>
          <a:p>
            <a:r>
              <a:t>The exam guide is your highest-fidelity signal for what Anthropic considers important enough to test. This lecture shows you how to use it as a study tool, not just a reference document.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exam guide contains three things that matter to you.</a:t>
            </a:r>
          </a:p>
          <a:p/>
          <a:p>
            <a:r>
              <a:t>First: the **domain overview** — a description of each domain and its weight. You already know these weights from the previous lecture.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the **task statements** — specific things Anthropic says the exam will test in each domain. These are the closest thing to a public answer key for what to study.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**12 sample questions** with correct answers. These are the only questions where you have the official answer. Study each one deeply. We dissect all 12 in Section 8 of this course.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statements follow a pattern: "verb + concept in context."</a:t>
            </a:r>
          </a:p>
          <a:p/>
          <a:p>
            <a:r>
              <a:t>The **verb** tells you the cognitive level Anthropic is testing. "Identify" is lower-order. "Design" and "Evaluate" are higher-order — and the CCA-F is almost entirely higher-order.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**concept** tells you the exact capability being tested. If the task statement says "configure MCP servers at project and user scope," you need to know not just what MCP is, but specifically how project vs. user scope differ and when each applies.</a:t>
            </a:r>
          </a:p>
          <a:p/>
          <a:p>
            <a:r>
              <a:t>For every task statement in the guide, ask yourself: can I apply this in a scenario I've never seen? If yes, you're ready. If no, that's a study gap.</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12 official sample questions are the most valuable resource Anthropic has given you.</a:t>
            </a:r>
          </a:p>
          <a:p/>
          <a:p>
            <a:r>
              <a:t>Here's why: Anthropic wrote them. These questions show exactly how the test-writers frame scenarios, what information they include, and what distractors they consider plausible.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sample question, don't just find the correct answer. Do this analysis:</a:t>
            </a:r>
          </a:p>
          <a:p/>
          <a:p>
            <a:r>
              <a:t>What domain is this testing? What specific concept within that domain? Which distractor looks most plausible, and why is it wrong? What's the principle that makes the correct answer correct?</a:t>
            </a:r>
          </a:p>
          <a:p/>
          <a:p>
            <a:r>
              <a:t>This analysis takes about 10 minutes per question. All 12 questions is two hours. That investment will pay off on exam day.</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exam guide also tells you what's *not* on the exam. This matters.</a:t>
            </a:r>
          </a:p>
          <a:p/>
          <a:p>
            <a:r>
              <a:t>Fine-tuning, prompt caching mechanics, embeddings, streaming internals, and vision/multimodal capabilities are all explicitly out of scope.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see a question that feels like it's testing fine-tuning knowledge or API authentication internals, you've misread the question. The CCA-F is about how to *use* Claude effectively in production — not about Anthropic's training process or internal API plumbing.</a:t>
            </a:r>
          </a:p>
          <a:p/>
          <a:p>
            <a:r>
              <a:t>Use the out-of-scope list to stay focused. Don't study what you don't need.</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lecture in this course maps to one or more task statements from the official exam guide.</a:t>
            </a:r>
          </a:p>
          <a:p/>
          <a:p>
            <a:r>
              <a:t>When you're studying a lecture and wondering "will this actually appear on the exam?" — the answer is always yes. Every lecture covers a tested concept.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to verify the mapping yourself, open the exam guide to the task statements for a domain, then open the corresponding section in this course. The lecture titles are deliberately named after the task statement concepts.</a:t>
            </a:r>
          </a:p>
          <a:p/>
          <a:p>
            <a:r>
              <a:t>For example: the task statement "Design tool descriptions that enable reliable tool selection" maps directly to lectures 3.1 and 3.2 in Section 3.</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exam guide's sample questions are the single most reliable study material for exam-day readiness.</a:t>
            </a:r>
          </a:p>
          <a:p/>
          <a:p>
            <a:r>
              <a:t>Not because the questions will repeat — they won't. But because they show you Anthropic's specific phrasing style, the level of scenario complexity they use, and the type of distractor they consider plausible.</a:t>
            </a:r>
          </a:p>
          <a:p/>
          <a:p>
            <a:r>
              <a:t>If you've deeply analyzed all 12 sample questions, you'll recognize the *pattern* of CCA-F questions even when the content is completely new.</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Task statements = the most precise list of what Anthropic will test — study them</a:t>
            </a:r>
          </a:p>
          <a:p>
            <a:r>
              <a:t>- The 12 sample questions reveal testing patterns — analyze all 12, including distractors</a:t>
            </a:r>
          </a:p>
          <a:p>
            <a:r>
              <a:t>- The out-of-scope list protects your study time — don't study what you don't need</a:t>
            </a:r>
          </a:p>
          <a:p>
            <a:r>
              <a:t>- This course covers every task statement — trust the lecture sequence</a:t>
            </a:r>
          </a:p>
          <a:p>
            <a:r>
              <a:t>- Section 8 of this course does full distractor analysis on all 12 official sample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The Official Exam Guide Is a Cheat Sheet</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Anthropic publishes an official exam guide for the CCA-F certification.</a:t>
            </a:r>
          </a:p>
          <a:p>
            <a:pPr>
              <a:spcBef>
                <a:spcPts val="400"/>
              </a:spcBef>
            </a:pPr>
            <a:r>
              <a:rPr sz="2000">
                <a:solidFill>
                  <a:srgbClr val="111928"/>
                </a:solidFill>
                <a:latin typeface="Calibri"/>
              </a:rPr>
              <a:t>Most candidates read it once, acknowledge it exists, and then set it aside.</a:t>
            </a:r>
          </a:p>
          <a:p>
            <a:pPr>
              <a:spcBef>
                <a:spcPts val="400"/>
              </a:spcBef>
            </a:pPr>
            <a:r>
              <a:rPr sz="2000">
                <a:solidFill>
                  <a:srgbClr val="111928"/>
                </a:solidFill>
                <a:latin typeface="Calibri"/>
              </a:rPr>
              <a:t>That's a mistake.</a:t>
            </a:r>
          </a:p>
          <a:p>
            <a:pPr>
              <a:spcBef>
                <a:spcPts val="400"/>
              </a:spcBef>
            </a:pPr>
            <a:r>
              <a:rPr sz="2000">
                <a:solidFill>
                  <a:srgbClr val="111928"/>
                </a:solidFill>
                <a:latin typeface="Calibri"/>
              </a:rPr>
              <a:t>The exam guide is your highest-fidelity signal for what Anthropic considers important enough to test. This lecture shows you how to use it as a study tool, not just a reference document.</a:t>
            </a:r>
          </a:p>
          <a:p>
            <a:pPr>
              <a:spcBef>
                <a:spcPts val="400"/>
              </a:spcBef>
            </a:pPr>
            <a:r>
              <a:rPr sz="2000">
                <a:solidFill>
                  <a:srgbClr val="111928"/>
                </a:solidFill>
                <a:latin typeface="Calibri"/>
              </a:rPr>
              <a:t>--</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What's in the Exam Guide</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The exam guide contains three things that matter to you.</a:t>
            </a:r>
          </a:p>
          <a:p>
            <a:pPr>
              <a:spcBef>
                <a:spcPts val="400"/>
              </a:spcBef>
            </a:pPr>
            <a:r>
              <a:rPr sz="2000">
                <a:solidFill>
                  <a:srgbClr val="111928"/>
                </a:solidFill>
                <a:latin typeface="Calibri"/>
              </a:rPr>
              <a:t>First: the **domain overview** — a description of each domain and its weight. You already know these weights from the previous lecture.</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What's in the Exam Guide (cont.)</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Second: the **task statements** — specific things Anthropic says the exam will test in each domain. These are the closest thing to a public answer key for what to study.</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What's in the Exam Guide (cont.)</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Third: **12 sample questions** with correct answers. These are the only questions where you have the official answer. Study each one deeply. We dissect all 12 in Section 8 of this course.</a:t>
            </a:r>
          </a:p>
          <a:p>
            <a:pPr>
              <a:spcBef>
                <a:spcPts val="400"/>
              </a:spcBef>
            </a:pPr>
            <a:r>
              <a:rPr sz="2000">
                <a:solidFill>
                  <a:srgbClr val="111928"/>
                </a:solidFill>
                <a:latin typeface="Calibri"/>
              </a:rPr>
              <a:t>--</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Reading the Task Statements</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Task statements follow a pattern: "verb + concept in context."</a:t>
            </a:r>
          </a:p>
          <a:p>
            <a:pPr>
              <a:spcBef>
                <a:spcPts val="400"/>
              </a:spcBef>
            </a:pPr>
            <a:r>
              <a:rPr sz="2000">
                <a:solidFill>
                  <a:srgbClr val="111928"/>
                </a:solidFill>
                <a:latin typeface="Calibri"/>
              </a:rPr>
              <a:t>The **verb** tells you the cognitive level Anthropic is testing. "Identify" is lower-order. "Design" and "Evaluate" are higher-order — and the CCA-F is almost entirely higher-order.</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Reading the Task Statements (cont.)</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The **concept** tells you the exact capability being tested. If the task statement says "configure MCP servers at project and user scope," you need to know not just what MCP is, but specifically how project vs. user scope differ and when each applies.</a:t>
            </a:r>
          </a:p>
          <a:p>
            <a:pPr>
              <a:spcBef>
                <a:spcPts val="400"/>
              </a:spcBef>
            </a:pPr>
            <a:r>
              <a:rPr sz="2000">
                <a:solidFill>
                  <a:srgbClr val="111928"/>
                </a:solidFill>
                <a:latin typeface="Calibri"/>
              </a:rPr>
              <a:t>For every task statement in the guide, ask yourself: can I apply this in a scenario I've never seen? If yes, you're ready. If no, that's a study gap.</a:t>
            </a:r>
          </a:p>
          <a:p>
            <a:pPr>
              <a:spcBef>
                <a:spcPts val="400"/>
              </a:spcBef>
            </a:pPr>
            <a:r>
              <a:rPr sz="2000">
                <a:solidFill>
                  <a:srgbClr val="111928"/>
                </a:solidFill>
                <a:latin typeface="Calibri"/>
              </a:rPr>
              <a:t>--</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The 12 Sample Questions — How to Use Them</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The 12 official sample questions are the most valuable resource Anthropic has given you.</a:t>
            </a:r>
          </a:p>
          <a:p>
            <a:pPr>
              <a:spcBef>
                <a:spcPts val="400"/>
              </a:spcBef>
            </a:pPr>
            <a:r>
              <a:rPr sz="2000">
                <a:solidFill>
                  <a:srgbClr val="111928"/>
                </a:solidFill>
                <a:latin typeface="Calibri"/>
              </a:rPr>
              <a:t>Here's why: Anthropic wrote them. These questions show exactly how the test-writers frame scenarios, what information they include, and what distractors they consider plausible.</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The 12 Sample Questions — How to Use Them (cont.)</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For each sample question, don't just find the correct answer. Do this analysis:</a:t>
            </a:r>
          </a:p>
          <a:p>
            <a:pPr>
              <a:spcBef>
                <a:spcPts val="400"/>
              </a:spcBef>
            </a:pPr>
            <a:r>
              <a:rPr sz="2000">
                <a:solidFill>
                  <a:srgbClr val="111928"/>
                </a:solidFill>
                <a:latin typeface="Calibri"/>
              </a:rPr>
              <a:t>What domain is this testing? What specific concept within that domain? Which distractor looks most plausible, and why is it wrong? What's the principle that makes the correct answer correct?</a:t>
            </a:r>
          </a:p>
          <a:p>
            <a:pPr>
              <a:spcBef>
                <a:spcPts val="400"/>
              </a:spcBef>
            </a:pPr>
            <a:r>
              <a:rPr sz="2000">
                <a:solidFill>
                  <a:srgbClr val="111928"/>
                </a:solidFill>
                <a:latin typeface="Calibri"/>
              </a:rPr>
              <a:t>This analysis takes about 10 minutes per question. All 12 questions is two hours. That investment will pay off on exam day.</a:t>
            </a:r>
          </a:p>
          <a:p>
            <a:pPr>
              <a:spcBef>
                <a:spcPts val="400"/>
              </a:spcBef>
            </a:pPr>
            <a:r>
              <a:rPr sz="2000">
                <a:solidFill>
                  <a:srgbClr val="111928"/>
                </a:solidFill>
                <a:latin typeface="Calibri"/>
              </a:rPr>
              <a:t>--</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22960"/>
          </a:xfrm>
          <a:prstGeom prst="rect">
            <a:avLst/>
          </a:prstGeom>
          <a:noFill/>
        </p:spPr>
        <p:txBody>
          <a:bodyPr wrap="square">
            <a:spAutoFit/>
          </a:bodyPr>
          <a:lstStyle/>
          <a:p>
            <a:pPr algn="l"/>
            <a:r>
              <a:rPr sz="3200" b="1" i="0">
                <a:solidFill>
                  <a:srgbClr val="FFFFFF"/>
                </a:solidFill>
                <a:latin typeface="Calibri"/>
              </a:rPr>
              <a:t>What the Exam Guide Explicitly Excludes</a:t>
            </a:r>
          </a:p>
        </p:txBody>
      </p:sp>
      <p:sp>
        <p:nvSpPr>
          <p:cNvPr id="4" name="Rectangle 3"/>
          <p:cNvSpPr/>
          <p:nvPr/>
        </p:nvSpPr>
        <p:spPr>
          <a:xfrm>
            <a:off x="6050584" y="1097280"/>
            <a:ext cx="45720" cy="530352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097280"/>
            <a:ext cx="5394960" cy="457200"/>
          </a:xfrm>
          <a:prstGeom prst="rect">
            <a:avLst/>
          </a:prstGeom>
          <a:noFill/>
        </p:spPr>
        <p:txBody>
          <a:bodyPr wrap="square">
            <a:spAutoFit/>
          </a:bodyPr>
          <a:lstStyle/>
          <a:p>
            <a:pPr algn="l"/>
            <a:r>
              <a:rPr sz="1800" b="1" i="0">
                <a:solidFill>
                  <a:srgbClr val="3CAF50"/>
                </a:solidFill>
                <a:latin typeface="Calibri"/>
              </a:rPr>
              <a:t>Option A</a:t>
            </a:r>
          </a:p>
        </p:txBody>
      </p:sp>
      <p:sp>
        <p:nvSpPr>
          <p:cNvPr id="6" name="TextBox 5"/>
          <p:cNvSpPr txBox="1"/>
          <p:nvPr/>
        </p:nvSpPr>
        <p:spPr>
          <a:xfrm>
            <a:off x="274320" y="1645920"/>
            <a:ext cx="5394960" cy="4572000"/>
          </a:xfrm>
          <a:prstGeom prst="rect">
            <a:avLst/>
          </a:prstGeom>
          <a:noFill/>
        </p:spPr>
        <p:txBody>
          <a:bodyPr wrap="square">
            <a:spAutoFit/>
          </a:bodyPr>
          <a:lstStyle/>
          <a:p>
            <a:pPr>
              <a:spcBef>
                <a:spcPts val="400"/>
              </a:spcBef>
            </a:pPr>
            <a:r>
              <a:rPr sz="1800">
                <a:solidFill>
                  <a:srgbClr val="111928"/>
                </a:solidFill>
                <a:latin typeface="Calibri"/>
              </a:rPr>
              <a:t>The exam guide also tells you what's *not* on the exam. This matters.</a:t>
            </a:r>
          </a:p>
          <a:p>
            <a:pPr>
              <a:spcBef>
                <a:spcPts val="400"/>
              </a:spcBef>
            </a:pPr>
            <a:r>
              <a:rPr sz="1800">
                <a:solidFill>
                  <a:srgbClr val="111928"/>
                </a:solidFill>
                <a:latin typeface="Calibri"/>
              </a:rPr>
              <a:t>Fine-tuning, prompt caching mechanics, embeddings, streaming internals, and vision/multimodal capabilities are all explicitly out of scope.</a:t>
            </a:r>
          </a:p>
        </p:txBody>
      </p:sp>
      <p:sp>
        <p:nvSpPr>
          <p:cNvPr id="7" name="TextBox 6"/>
          <p:cNvSpPr txBox="1"/>
          <p:nvPr/>
        </p:nvSpPr>
        <p:spPr>
          <a:xfrm>
            <a:off x="6309360" y="1097280"/>
            <a:ext cx="5486400" cy="457200"/>
          </a:xfrm>
          <a:prstGeom prst="rect">
            <a:avLst/>
          </a:prstGeom>
          <a:noFill/>
        </p:spPr>
        <p:txBody>
          <a:bodyPr wrap="square">
            <a:spAutoFit/>
          </a:bodyPr>
          <a:lstStyle/>
          <a:p>
            <a:pPr algn="l"/>
            <a:r>
              <a:rPr sz="1800" b="1" i="0">
                <a:solidFill>
                  <a:srgbClr val="0D7377"/>
                </a:solidFill>
                <a:latin typeface="Calibri"/>
              </a:rPr>
              <a:t>Option B</a:t>
            </a:r>
          </a:p>
        </p:txBody>
      </p:sp>
      <p:sp>
        <p:nvSpPr>
          <p:cNvPr id="8" name="TextBox 7"/>
          <p:cNvSpPr txBox="1"/>
          <p:nvPr/>
        </p:nvSpPr>
        <p:spPr>
          <a:xfrm>
            <a:off x="6309360" y="1645920"/>
            <a:ext cx="5486400" cy="4572000"/>
          </a:xfrm>
          <a:prstGeom prst="rect">
            <a:avLst/>
          </a:prstGeom>
          <a:noFill/>
        </p:spPr>
        <p:txBody>
          <a:bodyPr wrap="square">
            <a:spAutoFit/>
          </a:bodyPr>
          <a:lstStyle/>
          <a:p>
            <a:pPr>
              <a:spcBef>
                <a:spcPts val="400"/>
              </a:spcBef>
            </a:pPr>
            <a:r>
              <a:rPr sz="1800">
                <a:solidFill>
                  <a:srgbClr val="111928"/>
                </a:solidFill>
                <a:latin typeface="Calibri"/>
              </a:rPr>
              <a:t/>
            </a:r>
          </a:p>
        </p:txBody>
      </p:sp>
      <p:pic>
        <p:nvPicPr>
          <p:cNvPr id="9" name="Picture 8"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22960"/>
          </a:xfrm>
          <a:prstGeom prst="rect">
            <a:avLst/>
          </a:prstGeom>
          <a:noFill/>
        </p:spPr>
        <p:txBody>
          <a:bodyPr wrap="square">
            <a:spAutoFit/>
          </a:bodyPr>
          <a:lstStyle/>
          <a:p>
            <a:pPr algn="l"/>
            <a:r>
              <a:rPr sz="3200" b="1" i="0">
                <a:solidFill>
                  <a:srgbClr val="FFFFFF"/>
                </a:solidFill>
                <a:latin typeface="Calibri"/>
              </a:rPr>
              <a:t>What the Exam Guide Explicitly Excludes (cont.)</a:t>
            </a:r>
          </a:p>
        </p:txBody>
      </p:sp>
      <p:sp>
        <p:nvSpPr>
          <p:cNvPr id="4" name="Rectangle 3"/>
          <p:cNvSpPr/>
          <p:nvPr/>
        </p:nvSpPr>
        <p:spPr>
          <a:xfrm>
            <a:off x="6050584" y="1097280"/>
            <a:ext cx="45720" cy="530352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097280"/>
            <a:ext cx="5394960" cy="457200"/>
          </a:xfrm>
          <a:prstGeom prst="rect">
            <a:avLst/>
          </a:prstGeom>
          <a:noFill/>
        </p:spPr>
        <p:txBody>
          <a:bodyPr wrap="square">
            <a:spAutoFit/>
          </a:bodyPr>
          <a:lstStyle/>
          <a:p>
            <a:pPr algn="l"/>
            <a:r>
              <a:rPr sz="1800" b="1" i="0">
                <a:solidFill>
                  <a:srgbClr val="3CAF50"/>
                </a:solidFill>
                <a:latin typeface="Calibri"/>
              </a:rPr>
              <a:t>Option A</a:t>
            </a:r>
          </a:p>
        </p:txBody>
      </p:sp>
      <p:sp>
        <p:nvSpPr>
          <p:cNvPr id="6" name="TextBox 5"/>
          <p:cNvSpPr txBox="1"/>
          <p:nvPr/>
        </p:nvSpPr>
        <p:spPr>
          <a:xfrm>
            <a:off x="274320" y="1645920"/>
            <a:ext cx="5394960" cy="4572000"/>
          </a:xfrm>
          <a:prstGeom prst="rect">
            <a:avLst/>
          </a:prstGeom>
          <a:noFill/>
        </p:spPr>
        <p:txBody>
          <a:bodyPr wrap="square">
            <a:spAutoFit/>
          </a:bodyPr>
          <a:lstStyle/>
          <a:p>
            <a:pPr>
              <a:spcBef>
                <a:spcPts val="400"/>
              </a:spcBef>
            </a:pPr>
            <a:r>
              <a:rPr sz="1800">
                <a:solidFill>
                  <a:srgbClr val="111928"/>
                </a:solidFill>
                <a:latin typeface="Calibri"/>
              </a:rPr>
              <a:t>If you see a question that feels like it's testing fine-tuning knowledge or API authentication internals, you've misread the question. The CCA-F is about how to *use* Claude effectively in production — not about Anthropic's training process or internal API plumbing.</a:t>
            </a:r>
          </a:p>
          <a:p>
            <a:pPr>
              <a:spcBef>
                <a:spcPts val="400"/>
              </a:spcBef>
            </a:pPr>
            <a:r>
              <a:rPr sz="1800">
                <a:solidFill>
                  <a:srgbClr val="111928"/>
                </a:solidFill>
                <a:latin typeface="Calibri"/>
              </a:rPr>
              <a:t>Use the out-of-scope list to stay focused. Don't study what you don't need.</a:t>
            </a:r>
          </a:p>
          <a:p>
            <a:pPr>
              <a:spcBef>
                <a:spcPts val="400"/>
              </a:spcBef>
            </a:pPr>
            <a:r>
              <a:rPr sz="1800">
                <a:solidFill>
                  <a:srgbClr val="111928"/>
                </a:solidFill>
                <a:latin typeface="Calibri"/>
              </a:rPr>
              <a:t>--</a:t>
            </a:r>
          </a:p>
        </p:txBody>
      </p:sp>
      <p:sp>
        <p:nvSpPr>
          <p:cNvPr id="7" name="TextBox 6"/>
          <p:cNvSpPr txBox="1"/>
          <p:nvPr/>
        </p:nvSpPr>
        <p:spPr>
          <a:xfrm>
            <a:off x="6309360" y="1097280"/>
            <a:ext cx="5486400" cy="457200"/>
          </a:xfrm>
          <a:prstGeom prst="rect">
            <a:avLst/>
          </a:prstGeom>
          <a:noFill/>
        </p:spPr>
        <p:txBody>
          <a:bodyPr wrap="square">
            <a:spAutoFit/>
          </a:bodyPr>
          <a:lstStyle/>
          <a:p>
            <a:pPr algn="l"/>
            <a:r>
              <a:rPr sz="1800" b="1" i="0">
                <a:solidFill>
                  <a:srgbClr val="0D7377"/>
                </a:solidFill>
                <a:latin typeface="Calibri"/>
              </a:rPr>
              <a:t>Option B</a:t>
            </a:r>
          </a:p>
        </p:txBody>
      </p:sp>
      <p:sp>
        <p:nvSpPr>
          <p:cNvPr id="8" name="TextBox 7"/>
          <p:cNvSpPr txBox="1"/>
          <p:nvPr/>
        </p:nvSpPr>
        <p:spPr>
          <a:xfrm>
            <a:off x="6309360" y="1645920"/>
            <a:ext cx="5486400" cy="4572000"/>
          </a:xfrm>
          <a:prstGeom prst="rect">
            <a:avLst/>
          </a:prstGeom>
          <a:noFill/>
        </p:spPr>
        <p:txBody>
          <a:bodyPr wrap="square">
            <a:spAutoFit/>
          </a:bodyPr>
          <a:lstStyle/>
          <a:p>
            <a:pPr>
              <a:spcBef>
                <a:spcPts val="400"/>
              </a:spcBef>
            </a:pPr>
            <a:r>
              <a:rPr sz="1800">
                <a:solidFill>
                  <a:srgbClr val="111928"/>
                </a:solidFill>
                <a:latin typeface="Calibri"/>
              </a:rPr>
              <a:t/>
            </a:r>
          </a:p>
        </p:txBody>
      </p:sp>
      <p:pic>
        <p:nvPicPr>
          <p:cNvPr id="9" name="Picture 8"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How This Course Maps to the Exam Guide</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Every lecture in this course maps to one or more task statements from the official exam guide.</a:t>
            </a:r>
          </a:p>
          <a:p>
            <a:pPr>
              <a:spcBef>
                <a:spcPts val="400"/>
              </a:spcBef>
            </a:pPr>
            <a:r>
              <a:rPr sz="2000">
                <a:solidFill>
                  <a:srgbClr val="111928"/>
                </a:solidFill>
                <a:latin typeface="Calibri"/>
              </a:rPr>
              <a:t>When you're studying a lecture and wondering "will this actually appear on the exam?" — the answer is always yes. Every lecture covers a tested concept.</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8F5EB"/>
        </a:solidFill>
        <a:effectLst/>
      </p:bgPr>
    </p:bg>
    <p:spTree>
      <p:nvGrpSpPr>
        <p:cNvPr id="1" name=""/>
        <p:cNvGrpSpPr/>
        <p:nvPr/>
      </p:nvGrpSpPr>
      <p:grpSpPr/>
      <p:sp>
        <p:nvSpPr>
          <p:cNvPr id="2" name="Rectangle 1"/>
          <p:cNvSpPr/>
          <p:nvPr/>
        </p:nvSpPr>
        <p:spPr>
          <a:xfrm>
            <a:off x="0" y="0"/>
            <a:ext cx="73152" cy="6858000"/>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12118543" cy="100584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11430000" cy="822960"/>
          </a:xfrm>
          <a:prstGeom prst="rect">
            <a:avLst/>
          </a:prstGeom>
          <a:noFill/>
        </p:spPr>
        <p:txBody>
          <a:bodyPr wrap="square">
            <a:spAutoFit/>
          </a:bodyPr>
          <a:lstStyle/>
          <a:p>
            <a:pPr algn="l"/>
            <a:r>
              <a:rPr sz="3200" b="1" i="0">
                <a:solidFill>
                  <a:srgbClr val="FFFFFF"/>
                </a:solidFill>
                <a:latin typeface="Calibri"/>
              </a:rPr>
              <a:t>How This Course Maps to the Exam Guide (cont.)</a:t>
            </a:r>
          </a:p>
        </p:txBody>
      </p:sp>
      <p:sp>
        <p:nvSpPr>
          <p:cNvPr id="5" name="TextBox 4"/>
          <p:cNvSpPr txBox="1"/>
          <p:nvPr/>
        </p:nvSpPr>
        <p:spPr>
          <a:xfrm>
            <a:off x="457200" y="1188720"/>
            <a:ext cx="11247120" cy="5029200"/>
          </a:xfrm>
          <a:prstGeom prst="rect">
            <a:avLst/>
          </a:prstGeom>
          <a:noFill/>
        </p:spPr>
        <p:txBody>
          <a:bodyPr wrap="square">
            <a:spAutoFit/>
          </a:bodyPr>
          <a:lstStyle/>
          <a:p>
            <a:pPr>
              <a:spcBef>
                <a:spcPts val="400"/>
              </a:spcBef>
            </a:pPr>
            <a:r>
              <a:rPr sz="2000">
                <a:solidFill>
                  <a:srgbClr val="111928"/>
                </a:solidFill>
                <a:latin typeface="Calibri"/>
              </a:rPr>
              <a:t>If you want to verify the mapping yourself, open the exam guide to the task statements for a domain, then open the corresponding section in this course. The lecture titles are deliberately named after the task statement concepts.</a:t>
            </a:r>
          </a:p>
          <a:p>
            <a:pPr>
              <a:spcBef>
                <a:spcPts val="400"/>
              </a:spcBef>
            </a:pPr>
            <a:r>
              <a:rPr sz="2000">
                <a:solidFill>
                  <a:srgbClr val="111928"/>
                </a:solidFill>
                <a:latin typeface="Calibri"/>
              </a:rPr>
              <a:t>For example: the task statement "Design tool descriptions that enable reliable tool selection" maps directly to lectures 3.1 and 3.2 in Section 3.</a:t>
            </a:r>
          </a:p>
          <a:p>
            <a:pPr>
              <a:spcBef>
                <a:spcPts val="400"/>
              </a:spcBef>
            </a:pPr>
            <a:r>
              <a:rPr sz="2000">
                <a:solidFill>
                  <a:srgbClr val="111928"/>
                </a:solidFill>
                <a:latin typeface="Calibri"/>
              </a:rPr>
              <a:t>--</a:t>
            </a:r>
          </a:p>
        </p:txBody>
      </p:sp>
      <p:pic>
        <p:nvPicPr>
          <p:cNvPr id="6" name="Picture 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E3A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77295" cy="914400"/>
          </a:xfrm>
          <a:prstGeom prst="rect">
            <a:avLst/>
          </a:prstGeom>
          <a:noFill/>
        </p:spPr>
        <p:txBody>
          <a:bodyPr wrap="square">
            <a:spAutoFit/>
          </a:bodyPr>
          <a:lstStyle/>
          <a:p>
            <a:pPr algn="ctr"/>
            <a:r>
              <a:rPr sz="3600" b="1" i="0">
                <a:solidFill>
                  <a:srgbClr val="FFFFFF"/>
                </a:solidFill>
                <a:latin typeface="Calibri"/>
              </a:rPr>
              <a:t>EXAM TIP</a:t>
            </a:r>
          </a:p>
        </p:txBody>
      </p:sp>
      <p:sp>
        <p:nvSpPr>
          <p:cNvPr id="4" name="TextBox 3"/>
          <p:cNvSpPr txBox="1"/>
          <p:nvPr/>
        </p:nvSpPr>
        <p:spPr>
          <a:xfrm>
            <a:off x="457200" y="1325880"/>
            <a:ext cx="11277295" cy="640080"/>
          </a:xfrm>
          <a:prstGeom prst="rect">
            <a:avLst/>
          </a:prstGeom>
          <a:noFill/>
        </p:spPr>
        <p:txBody>
          <a:bodyPr wrap="square">
            <a:spAutoFit/>
          </a:bodyPr>
          <a:lstStyle/>
          <a:p>
            <a:pPr algn="ctr"/>
            <a:r>
              <a:rPr sz="2200" b="1" i="0">
                <a:solidFill>
                  <a:srgbClr val="1A3A4A"/>
                </a:solidFill>
                <a:latin typeface="Calibri"/>
              </a:rPr>
              <a:t>Exam Tip</a:t>
            </a:r>
          </a:p>
        </p:txBody>
      </p:sp>
      <p:sp>
        <p:nvSpPr>
          <p:cNvPr id="5" name="Rectangle 4"/>
          <p:cNvSpPr/>
          <p:nvPr/>
        </p:nvSpPr>
        <p:spPr>
          <a:xfrm>
            <a:off x="365760" y="2103120"/>
            <a:ext cx="5303520" cy="411480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94560"/>
            <a:ext cx="4937760" cy="457200"/>
          </a:xfrm>
          <a:prstGeom prst="rect">
            <a:avLst/>
          </a:prstGeom>
          <a:noFill/>
        </p:spPr>
        <p:txBody>
          <a:bodyPr wrap="square">
            <a:spAutoFit/>
          </a:bodyPr>
          <a:lstStyle/>
          <a:p>
            <a:pPr algn="l"/>
            <a:r>
              <a:rPr sz="1800" b="1" i="0">
                <a:solidFill>
                  <a:srgbClr val="C0392B"/>
                </a:solidFill>
                <a:latin typeface="Calibri"/>
              </a:rPr>
              <a:t>The Trap</a:t>
            </a:r>
          </a:p>
        </p:txBody>
      </p:sp>
      <p:sp>
        <p:nvSpPr>
          <p:cNvPr id="7" name="TextBox 6"/>
          <p:cNvSpPr txBox="1"/>
          <p:nvPr/>
        </p:nvSpPr>
        <p:spPr>
          <a:xfrm>
            <a:off x="548640" y="2743200"/>
            <a:ext cx="4937760" cy="3200400"/>
          </a:xfrm>
          <a:prstGeom prst="rect">
            <a:avLst/>
          </a:prstGeom>
          <a:noFill/>
        </p:spPr>
        <p:txBody>
          <a:bodyPr wrap="square">
            <a:spAutoFit/>
          </a:bodyPr>
          <a:lstStyle/>
          <a:p>
            <a:pPr algn="l"/>
            <a:r>
              <a:rPr sz="1600" b="0" i="0">
                <a:solidFill>
                  <a:srgbClr val="111928"/>
                </a:solidFill>
                <a:latin typeface="Calibri"/>
              </a:rPr>
              <a:t>The exam guide's sample questions are the single most reliable study material for exam-day readiness.</a:t>
            </a:r>
            <a:br/>
            <a:br/>
            <a:r>
              <a:t>Not because the questions will repeat — they won't. But because they show you Anthropic's specifi</a:t>
            </a:r>
          </a:p>
        </p:txBody>
      </p:sp>
      <p:sp>
        <p:nvSpPr>
          <p:cNvPr id="8" name="Rectangle 7"/>
          <p:cNvSpPr/>
          <p:nvPr/>
        </p:nvSpPr>
        <p:spPr>
          <a:xfrm>
            <a:off x="6522415" y="2103120"/>
            <a:ext cx="5303520" cy="4114800"/>
          </a:xfrm>
          <a:prstGeom prst="rect">
            <a:avLst/>
          </a:prstGeom>
          <a:solidFill>
            <a:srgbClr val="F0F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05295" y="2194560"/>
            <a:ext cx="4937760" cy="457200"/>
          </a:xfrm>
          <a:prstGeom prst="rect">
            <a:avLst/>
          </a:prstGeom>
          <a:noFill/>
        </p:spPr>
        <p:txBody>
          <a:bodyPr wrap="square">
            <a:spAutoFit/>
          </a:bodyPr>
          <a:lstStyle/>
          <a:p>
            <a:pPr algn="l"/>
            <a:r>
              <a:rPr sz="1800" b="1" i="0">
                <a:solidFill>
                  <a:srgbClr val="1B8A5A"/>
                </a:solidFill>
                <a:latin typeface="Calibri"/>
              </a:rPr>
              <a:t>Correct Approach</a:t>
            </a:r>
          </a:p>
        </p:txBody>
      </p:sp>
      <p:sp>
        <p:nvSpPr>
          <p:cNvPr id="10" name="TextBox 9"/>
          <p:cNvSpPr txBox="1"/>
          <p:nvPr/>
        </p:nvSpPr>
        <p:spPr>
          <a:xfrm>
            <a:off x="6705295" y="2743200"/>
            <a:ext cx="4937760" cy="3200400"/>
          </a:xfrm>
          <a:prstGeom prst="rect">
            <a:avLst/>
          </a:prstGeom>
          <a:noFill/>
        </p:spPr>
        <p:txBody>
          <a:bodyPr wrap="square">
            <a:spAutoFit/>
          </a:bodyPr>
          <a:lstStyle/>
          <a:p>
            <a:pPr algn="l"/>
            <a:r>
              <a:rPr sz="1600" b="0" i="0">
                <a:solidFill>
                  <a:srgbClr val="111928"/>
                </a:solidFill>
                <a:latin typeface="Calibri"/>
              </a:rPr>
              <a:t/>
            </a:r>
          </a:p>
        </p:txBody>
      </p:sp>
      <p:pic>
        <p:nvPicPr>
          <p:cNvPr id="11" name="Picture 10"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3A4A"/>
        </a:solidFill>
        <a:effectLst/>
      </p:bgPr>
    </p:bg>
    <p:spTree>
      <p:nvGrpSpPr>
        <p:cNvPr id="1" name=""/>
        <p:cNvGrpSpPr/>
        <p:nvPr/>
      </p:nvGrpSpPr>
      <p:grpSpPr/>
      <p:sp>
        <p:nvSpPr>
          <p:cNvPr id="2" name="Rectangle 1"/>
          <p:cNvSpPr/>
          <p:nvPr/>
        </p:nvSpPr>
        <p:spPr>
          <a:xfrm>
            <a:off x="0" y="4572000"/>
            <a:ext cx="12191695" cy="2286000"/>
          </a:xfrm>
          <a:prstGeom prst="rect">
            <a:avLst/>
          </a:prstGeom>
          <a:solidFill>
            <a:srgbClr val="0D73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754880"/>
          </a:xfrm>
          <a:prstGeom prst="rect">
            <a:avLst/>
          </a:prstGeom>
          <a:solidFill>
            <a:srgbClr val="1A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7295" cy="822960"/>
          </a:xfrm>
          <a:prstGeom prst="rect">
            <a:avLst/>
          </a:prstGeom>
          <a:noFill/>
        </p:spPr>
        <p:txBody>
          <a:bodyPr wrap="square">
            <a:spAutoFit/>
          </a:bodyPr>
          <a:lstStyle/>
          <a:p>
            <a:pPr algn="l"/>
            <a:r>
              <a:rPr sz="3600" b="1" i="0">
                <a:solidFill>
                  <a:srgbClr val="FFFFFF"/>
                </a:solidFill>
                <a:latin typeface="Calibri"/>
              </a:rPr>
              <a:t>What to Remember</a:t>
            </a:r>
          </a:p>
        </p:txBody>
      </p:sp>
      <p:sp>
        <p:nvSpPr>
          <p:cNvPr id="5" name="Rectangle 4"/>
          <p:cNvSpPr/>
          <p:nvPr/>
        </p:nvSpPr>
        <p:spPr>
          <a:xfrm>
            <a:off x="457200" y="1051560"/>
            <a:ext cx="11277295" cy="36576"/>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25880"/>
            <a:ext cx="109728" cy="109728"/>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234440"/>
            <a:ext cx="10972800" cy="594360"/>
          </a:xfrm>
          <a:prstGeom prst="rect">
            <a:avLst/>
          </a:prstGeom>
          <a:noFill/>
        </p:spPr>
        <p:txBody>
          <a:bodyPr wrap="square">
            <a:spAutoFit/>
          </a:bodyPr>
          <a:lstStyle/>
          <a:p>
            <a:pPr algn="l"/>
            <a:r>
              <a:rPr sz="2000" b="0" i="0">
                <a:solidFill>
                  <a:srgbClr val="FFFFFF"/>
                </a:solidFill>
                <a:latin typeface="Calibri"/>
              </a:rPr>
              <a:t>Task statements = the most precise list of what Anthropic will test — study them</a:t>
            </a:r>
          </a:p>
        </p:txBody>
      </p:sp>
      <p:sp>
        <p:nvSpPr>
          <p:cNvPr id="8" name="Rectangle 7"/>
          <p:cNvSpPr/>
          <p:nvPr/>
        </p:nvSpPr>
        <p:spPr>
          <a:xfrm>
            <a:off x="457200" y="1984248"/>
            <a:ext cx="109728" cy="109728"/>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892808"/>
            <a:ext cx="10972800" cy="594360"/>
          </a:xfrm>
          <a:prstGeom prst="rect">
            <a:avLst/>
          </a:prstGeom>
          <a:noFill/>
        </p:spPr>
        <p:txBody>
          <a:bodyPr wrap="square">
            <a:spAutoFit/>
          </a:bodyPr>
          <a:lstStyle/>
          <a:p>
            <a:pPr algn="l"/>
            <a:r>
              <a:rPr sz="2000" b="0" i="0">
                <a:solidFill>
                  <a:srgbClr val="FFFFFF"/>
                </a:solidFill>
                <a:latin typeface="Calibri"/>
              </a:rPr>
              <a:t>The 12 sample questions reveal testing patterns — analyze all 12, including distractors</a:t>
            </a:r>
          </a:p>
        </p:txBody>
      </p:sp>
      <p:sp>
        <p:nvSpPr>
          <p:cNvPr id="10" name="Rectangle 9"/>
          <p:cNvSpPr/>
          <p:nvPr/>
        </p:nvSpPr>
        <p:spPr>
          <a:xfrm>
            <a:off x="457200" y="2642616"/>
            <a:ext cx="109728" cy="109728"/>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51176"/>
            <a:ext cx="10972800" cy="594360"/>
          </a:xfrm>
          <a:prstGeom prst="rect">
            <a:avLst/>
          </a:prstGeom>
          <a:noFill/>
        </p:spPr>
        <p:txBody>
          <a:bodyPr wrap="square">
            <a:spAutoFit/>
          </a:bodyPr>
          <a:lstStyle/>
          <a:p>
            <a:pPr algn="l"/>
            <a:r>
              <a:rPr sz="2000" b="0" i="0">
                <a:solidFill>
                  <a:srgbClr val="FFFFFF"/>
                </a:solidFill>
                <a:latin typeface="Calibri"/>
              </a:rPr>
              <a:t>The out-of-scope list protects your study time — don't study what you don't need</a:t>
            </a:r>
          </a:p>
        </p:txBody>
      </p:sp>
      <p:sp>
        <p:nvSpPr>
          <p:cNvPr id="12" name="Rectangle 11"/>
          <p:cNvSpPr/>
          <p:nvPr/>
        </p:nvSpPr>
        <p:spPr>
          <a:xfrm>
            <a:off x="457200" y="3300984"/>
            <a:ext cx="109728" cy="109728"/>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209544"/>
            <a:ext cx="10972800" cy="594360"/>
          </a:xfrm>
          <a:prstGeom prst="rect">
            <a:avLst/>
          </a:prstGeom>
          <a:noFill/>
        </p:spPr>
        <p:txBody>
          <a:bodyPr wrap="square">
            <a:spAutoFit/>
          </a:bodyPr>
          <a:lstStyle/>
          <a:p>
            <a:pPr algn="l"/>
            <a:r>
              <a:rPr sz="2000" b="0" i="0">
                <a:solidFill>
                  <a:srgbClr val="FFFFFF"/>
                </a:solidFill>
                <a:latin typeface="Calibri"/>
              </a:rPr>
              <a:t>This course covers every task statement — trust the lecture sequence</a:t>
            </a:r>
          </a:p>
        </p:txBody>
      </p:sp>
      <p:sp>
        <p:nvSpPr>
          <p:cNvPr id="14" name="Rectangle 13"/>
          <p:cNvSpPr/>
          <p:nvPr/>
        </p:nvSpPr>
        <p:spPr>
          <a:xfrm>
            <a:off x="457200" y="3959352"/>
            <a:ext cx="109728" cy="109728"/>
          </a:xfrm>
          <a:prstGeom prst="rect">
            <a:avLst/>
          </a:prstGeom>
          <a:solidFill>
            <a:srgbClr val="3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867912"/>
            <a:ext cx="10972800" cy="594360"/>
          </a:xfrm>
          <a:prstGeom prst="rect">
            <a:avLst/>
          </a:prstGeom>
          <a:noFill/>
        </p:spPr>
        <p:txBody>
          <a:bodyPr wrap="square">
            <a:spAutoFit/>
          </a:bodyPr>
          <a:lstStyle/>
          <a:p>
            <a:pPr algn="l"/>
            <a:r>
              <a:rPr sz="2000" b="0" i="0">
                <a:solidFill>
                  <a:srgbClr val="FFFFFF"/>
                </a:solidFill>
                <a:latin typeface="Calibri"/>
              </a:rPr>
              <a:t>Section 8 of this course does full distractor analysis on all 12 official sample questions</a:t>
            </a:r>
          </a:p>
        </p:txBody>
      </p:sp>
      <p:pic>
        <p:nvPicPr>
          <p:cNvPr id="16" name="Picture 15" descr="dyer_innovation_logo.png"/>
          <p:cNvPicPr>
            <a:picLocks noChangeAspect="1"/>
          </p:cNvPicPr>
          <p:nvPr/>
        </p:nvPicPr>
        <p:blipFill>
          <a:blip r:embed="rId2"/>
          <a:stretch>
            <a:fillRect/>
          </a:stretch>
        </p:blipFill>
        <p:spPr>
          <a:xfrm>
            <a:off x="11277295" y="6263640"/>
            <a:ext cx="731520" cy="731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