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CCA-F exam is organized into five domains.</a:t>
            </a:r>
          </a:p>
          <a:p/>
          <a:p>
            <a:r>
              <a:t>Each domain tests a different set of skills you need to build production systems with Claude.</a:t>
            </a:r>
          </a:p>
          <a:p/>
          <a:p>
            <a:r>
              <a:t>Understanding the domains — and their weights — is the first step to an effective study strategy.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1 is Agentic Architecture and Orchestration, and it carries the highest weight on the exam at 27%.</a:t>
            </a:r>
          </a:p>
          <a:p/>
          <a:p>
            <a:r>
              <a:t>This domain covers how agentic systems work: the control loop, subagent coordination, task decomposition, session management, and escalation to humans.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concept in Domain 1 is `stop_reason`. Everything flows from understanding that `"tool_use"` means the loop continues and `"end_turn"` means it stops. Get this wrong, and your agent either terminates prematurely or loops forever.</a:t>
            </a:r>
          </a:p>
          <a:p/>
          <a:p>
            <a:r>
              <a:t>If you have limited study time, Domain 1 is where you invest it first.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Domains 3 and 4 are tied at 20% each, and together they account for 40% of the exam.</a:t>
            </a:r>
          </a:p>
          <a:p/>
          <a:p>
            <a:r>
              <a:t>Domain 3 — Claude Code Configuration — covers CLAUDE.md hierarchy, the `.claude/` directory structure, skills, slash commands, custom rules, CI/CD integration, and plan mode.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4 — Prompt Engineering and Structured Output — covers when to use few-shot examples, how to enforce structured output through `tool_choice`, the Message Batches API, validation-retry patterns, and multi-instance review architectures.</a:t>
            </a:r>
          </a:p>
          <a:p/>
          <a:p>
            <a:r>
              <a:t>These two domains reward hands-on experience. If you've built real Claude Code workflows or prompt pipelines, a lot of this domain will feel familiar.</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2 — Tool Design and Model Context Protocol — weighs in at 18%.</a:t>
            </a:r>
          </a:p>
          <a:p/>
          <a:p>
            <a:r>
              <a:t>This domain covers how to write tool descriptions that Claude actually selects correctly, how to structure MCP error responses, how to configure MCP servers at project and user scope, and when to use MCP resources versus MCP tools.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exam-critical concept in Domain 2 is the error response structure: every tool error needs three fields — `errorCategory`, `isRetryable`, and a human-readable description. Miss one of these on the exam and you'll pick a distractor that looks almost right.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5 — Context Management and Reliability — is the smallest domain at 15%.</a:t>
            </a:r>
          </a:p>
          <a:p/>
          <a:p>
            <a:r>
              <a:t>It covers how to manage long context windows, when and how to escalate to a human agent, how to propagate errors across multi-agent systems, and how to handle conflicting information from multiple sources.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5 has a higher value-per-study-hour ratio than its weight suggests. The escalation decision framework appears in at least two of the six scenarios, and the "lost in the middle" effect is a common trap question. Spend at least one study session here even if time is short.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domain weights tell you where to invest your study time.</a:t>
            </a:r>
          </a:p>
          <a:p/>
          <a:p>
            <a:r>
              <a:t>With two or more weeks, work through each section sequentially in this course. Domains are ordered by weight — you automatically prioritize correctly.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one week, spend half your time on Domain 1, then split the remaining time between Domains 3 and 4 (the tied 20% domains), and use any remaining time for Domains 2 and 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exam is tomorrow? Go to Section 9 first — the 20 things you must know cold. Then take the practice exam in Section 8. Then review your weakest domain's cheat sheet.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treating all five domains as equally important and spreading study time evenly.</a:t>
            </a:r>
          </a:p>
          <a:p/>
          <a:p>
            <a:r>
              <a:t>Domain 1 at 27% is nearly twice the weight of Domain 5 at 15%.</a:t>
            </a:r>
          </a:p>
          <a:p/>
          <a:p>
            <a:r>
              <a:t>The right approach: weight your study time proportionally. If you have five study days, spend Day 1 entirely on Domain 1. Don't split days evenly across domains.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Domain 1: Agentic Architecture — **27%** (highest weight, start here)</a:t>
            </a:r>
          </a:p>
          <a:p>
            <a:r>
              <a:t>- Domain 3: Claude Code Config — **20%** (tied for second)</a:t>
            </a:r>
          </a:p>
          <a:p>
            <a:r>
              <a:t>- Domain 4: Prompt Engineering — **20%** (tied for second)</a:t>
            </a:r>
          </a:p>
          <a:p>
            <a:r>
              <a:t>- Domain 2: Tool Design &amp; MCP — **18%**</a:t>
            </a:r>
          </a:p>
          <a:p>
            <a:r>
              <a:t>- Domain 5: Context Management — **15%** (lowest weight — still worth studying)</a:t>
            </a:r>
          </a:p>
          <a:p>
            <a:r>
              <a:t>- **Total: 100%** — you need 72% overall to pass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Five Domains, One Certification</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CCA-F exam is organized into five domains.</a:t>
            </a:r>
          </a:p>
          <a:p>
            <a:pPr>
              <a:spcBef>
                <a:spcPts val="400"/>
              </a:spcBef>
            </a:pPr>
            <a:r>
              <a:rPr sz="2000">
                <a:solidFill>
                  <a:srgbClr val="111928"/>
                </a:solidFill>
                <a:latin typeface="Calibri"/>
              </a:rPr>
              <a:t>Each domain tests a different set of skills you need to build production systems with Claude.</a:t>
            </a:r>
          </a:p>
          <a:p>
            <a:pPr>
              <a:spcBef>
                <a:spcPts val="400"/>
              </a:spcBef>
            </a:pPr>
            <a:r>
              <a:rPr sz="2000">
                <a:solidFill>
                  <a:srgbClr val="111928"/>
                </a:solidFill>
                <a:latin typeface="Calibri"/>
              </a:rPr>
              <a:t>Understanding the domains — and their weights — is the first step to an effective study strategy.</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3200" b="1" i="0">
                <a:solidFill>
                  <a:srgbClr val="FFFFFF"/>
                </a:solidFill>
                <a:latin typeface="Calibri"/>
              </a:rPr>
              <a:t>Domain 1 — Agentic Architecture &amp; Orchestration (27%)</a:t>
            </a:r>
          </a:p>
        </p:txBody>
      </p:sp>
      <p:sp>
        <p:nvSpPr>
          <p:cNvPr id="4" name="Rectangle 3"/>
          <p:cNvSpPr/>
          <p:nvPr/>
        </p:nvSpPr>
        <p:spPr>
          <a:xfrm>
            <a:off x="6050584" y="1097280"/>
            <a:ext cx="45720" cy="530352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0"/>
            <a:ext cx="5394960" cy="457200"/>
          </a:xfrm>
          <a:prstGeom prst="rect">
            <a:avLst/>
          </a:prstGeom>
          <a:noFill/>
        </p:spPr>
        <p:txBody>
          <a:bodyPr wrap="square">
            <a:spAutoFit/>
          </a:bodyPr>
          <a:lstStyle/>
          <a:p>
            <a:pPr algn="l"/>
            <a:r>
              <a:rPr sz="1800" b="1" i="0">
                <a:solidFill>
                  <a:srgbClr val="3CAF50"/>
                </a:solidFill>
                <a:latin typeface="Calibri"/>
              </a:rPr>
              <a:t>Option A</a:t>
            </a:r>
          </a:p>
        </p:txBody>
      </p:sp>
      <p:sp>
        <p:nvSpPr>
          <p:cNvPr id="6" name="TextBox 5"/>
          <p:cNvSpPr txBox="1"/>
          <p:nvPr/>
        </p:nvSpPr>
        <p:spPr>
          <a:xfrm>
            <a:off x="274320" y="1645920"/>
            <a:ext cx="5394960" cy="4572000"/>
          </a:xfrm>
          <a:prstGeom prst="rect">
            <a:avLst/>
          </a:prstGeom>
          <a:noFill/>
        </p:spPr>
        <p:txBody>
          <a:bodyPr wrap="square">
            <a:spAutoFit/>
          </a:bodyPr>
          <a:lstStyle/>
          <a:p>
            <a:pPr>
              <a:spcBef>
                <a:spcPts val="400"/>
              </a:spcBef>
            </a:pPr>
            <a:r>
              <a:rPr sz="1800">
                <a:solidFill>
                  <a:srgbClr val="111928"/>
                </a:solidFill>
                <a:latin typeface="Calibri"/>
              </a:rPr>
              <a:t>Domain 1 is Agentic Architecture and Orchestration, and it carries the highest weight on the exam at 27%.</a:t>
            </a:r>
          </a:p>
          <a:p>
            <a:pPr>
              <a:spcBef>
                <a:spcPts val="400"/>
              </a:spcBef>
            </a:pPr>
            <a:r>
              <a:rPr sz="1800">
                <a:solidFill>
                  <a:srgbClr val="111928"/>
                </a:solidFill>
                <a:latin typeface="Calibri"/>
              </a:rPr>
              <a:t>This domain covers how agentic systems work: the control loop, subagent coordination, task decomposition, session management, and escalation to humans.</a:t>
            </a:r>
          </a:p>
        </p:txBody>
      </p:sp>
      <p:sp>
        <p:nvSpPr>
          <p:cNvPr id="7" name="TextBox 6"/>
          <p:cNvSpPr txBox="1"/>
          <p:nvPr/>
        </p:nvSpPr>
        <p:spPr>
          <a:xfrm>
            <a:off x="6309360" y="1097280"/>
            <a:ext cx="5486400" cy="457200"/>
          </a:xfrm>
          <a:prstGeom prst="rect">
            <a:avLst/>
          </a:prstGeom>
          <a:noFill/>
        </p:spPr>
        <p:txBody>
          <a:bodyPr wrap="square">
            <a:spAutoFit/>
          </a:bodyPr>
          <a:lstStyle/>
          <a:p>
            <a:pPr algn="l"/>
            <a:r>
              <a:rPr sz="1800" b="1" i="0">
                <a:solidFill>
                  <a:srgbClr val="0D7377"/>
                </a:solidFill>
                <a:latin typeface="Calibri"/>
              </a:rPr>
              <a:t>Option B</a:t>
            </a:r>
          </a:p>
        </p:txBody>
      </p:sp>
      <p:sp>
        <p:nvSpPr>
          <p:cNvPr id="8" name="TextBox 7"/>
          <p:cNvSpPr txBox="1"/>
          <p:nvPr/>
        </p:nvSpPr>
        <p:spPr>
          <a:xfrm>
            <a:off x="6309360" y="1645920"/>
            <a:ext cx="5486400" cy="4572000"/>
          </a:xfrm>
          <a:prstGeom prst="rect">
            <a:avLst/>
          </a:prstGeom>
          <a:noFill/>
        </p:spPr>
        <p:txBody>
          <a:bodyPr wrap="square">
            <a:spAutoFit/>
          </a:bodyPr>
          <a:lstStyle/>
          <a:p>
            <a:pPr>
              <a:spcBef>
                <a:spcPts val="400"/>
              </a:spcBef>
            </a:pPr>
            <a:r>
              <a:rPr sz="1800">
                <a:solidFill>
                  <a:srgbClr val="111928"/>
                </a:solidFill>
                <a:latin typeface="Calibri"/>
              </a:rPr>
              <a:t/>
            </a:r>
          </a:p>
        </p:txBody>
      </p:sp>
      <p:pic>
        <p:nvPicPr>
          <p:cNvPr id="9" name="Picture 8"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3200" b="1" i="0">
                <a:solidFill>
                  <a:srgbClr val="FFFFFF"/>
                </a:solidFill>
                <a:latin typeface="Calibri"/>
              </a:rPr>
              <a:t>Domain 1 — Agentic Architecture &amp; Orchestration (27%) (cont.)</a:t>
            </a:r>
          </a:p>
        </p:txBody>
      </p:sp>
      <p:sp>
        <p:nvSpPr>
          <p:cNvPr id="4" name="Rectangle 3"/>
          <p:cNvSpPr/>
          <p:nvPr/>
        </p:nvSpPr>
        <p:spPr>
          <a:xfrm>
            <a:off x="6050584" y="1097280"/>
            <a:ext cx="45720" cy="530352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0"/>
            <a:ext cx="5394960" cy="457200"/>
          </a:xfrm>
          <a:prstGeom prst="rect">
            <a:avLst/>
          </a:prstGeom>
          <a:noFill/>
        </p:spPr>
        <p:txBody>
          <a:bodyPr wrap="square">
            <a:spAutoFit/>
          </a:bodyPr>
          <a:lstStyle/>
          <a:p>
            <a:pPr algn="l"/>
            <a:r>
              <a:rPr sz="1800" b="1" i="0">
                <a:solidFill>
                  <a:srgbClr val="3CAF50"/>
                </a:solidFill>
                <a:latin typeface="Calibri"/>
              </a:rPr>
              <a:t>Option A</a:t>
            </a:r>
          </a:p>
        </p:txBody>
      </p:sp>
      <p:sp>
        <p:nvSpPr>
          <p:cNvPr id="6" name="TextBox 5"/>
          <p:cNvSpPr txBox="1"/>
          <p:nvPr/>
        </p:nvSpPr>
        <p:spPr>
          <a:xfrm>
            <a:off x="274320" y="1645920"/>
            <a:ext cx="5394960" cy="4572000"/>
          </a:xfrm>
          <a:prstGeom prst="rect">
            <a:avLst/>
          </a:prstGeom>
          <a:noFill/>
        </p:spPr>
        <p:txBody>
          <a:bodyPr wrap="square">
            <a:spAutoFit/>
          </a:bodyPr>
          <a:lstStyle/>
          <a:p>
            <a:pPr>
              <a:spcBef>
                <a:spcPts val="400"/>
              </a:spcBef>
            </a:pPr>
            <a:r>
              <a:rPr sz="1800">
                <a:solidFill>
                  <a:srgbClr val="111928"/>
                </a:solidFill>
                <a:latin typeface="Calibri"/>
              </a:rPr>
              <a:t>The core concept in Domain 1 is `stop_reason`. Everything flows from understanding that `"tool_use"` means the loop continues and `"end_turn"` means it stops. Get this wrong, and your agent either terminates prematurely or loops forever.</a:t>
            </a:r>
          </a:p>
          <a:p>
            <a:pPr>
              <a:spcBef>
                <a:spcPts val="400"/>
              </a:spcBef>
            </a:pPr>
            <a:r>
              <a:rPr sz="1800">
                <a:solidFill>
                  <a:srgbClr val="111928"/>
                </a:solidFill>
                <a:latin typeface="Calibri"/>
              </a:rPr>
              <a:t>If you have limited study time, Domain 1 is where you invest it first.</a:t>
            </a:r>
          </a:p>
          <a:p>
            <a:pPr>
              <a:spcBef>
                <a:spcPts val="400"/>
              </a:spcBef>
            </a:pPr>
            <a:r>
              <a:rPr sz="1800">
                <a:solidFill>
                  <a:srgbClr val="111928"/>
                </a:solidFill>
                <a:latin typeface="Calibri"/>
              </a:rPr>
              <a:t>--</a:t>
            </a:r>
          </a:p>
        </p:txBody>
      </p:sp>
      <p:sp>
        <p:nvSpPr>
          <p:cNvPr id="7" name="TextBox 6"/>
          <p:cNvSpPr txBox="1"/>
          <p:nvPr/>
        </p:nvSpPr>
        <p:spPr>
          <a:xfrm>
            <a:off x="6309360" y="1097280"/>
            <a:ext cx="5486400" cy="457200"/>
          </a:xfrm>
          <a:prstGeom prst="rect">
            <a:avLst/>
          </a:prstGeom>
          <a:noFill/>
        </p:spPr>
        <p:txBody>
          <a:bodyPr wrap="square">
            <a:spAutoFit/>
          </a:bodyPr>
          <a:lstStyle/>
          <a:p>
            <a:pPr algn="l"/>
            <a:r>
              <a:rPr sz="1800" b="1" i="0">
                <a:solidFill>
                  <a:srgbClr val="0D7377"/>
                </a:solidFill>
                <a:latin typeface="Calibri"/>
              </a:rPr>
              <a:t>Option B</a:t>
            </a:r>
          </a:p>
        </p:txBody>
      </p:sp>
      <p:sp>
        <p:nvSpPr>
          <p:cNvPr id="8" name="TextBox 7"/>
          <p:cNvSpPr txBox="1"/>
          <p:nvPr/>
        </p:nvSpPr>
        <p:spPr>
          <a:xfrm>
            <a:off x="6309360" y="1645920"/>
            <a:ext cx="5486400" cy="4572000"/>
          </a:xfrm>
          <a:prstGeom prst="rect">
            <a:avLst/>
          </a:prstGeom>
          <a:noFill/>
        </p:spPr>
        <p:txBody>
          <a:bodyPr wrap="square">
            <a:spAutoFit/>
          </a:bodyPr>
          <a:lstStyle/>
          <a:p>
            <a:pPr>
              <a:spcBef>
                <a:spcPts val="400"/>
              </a:spcBef>
            </a:pPr>
            <a:r>
              <a:rPr sz="1800">
                <a:solidFill>
                  <a:srgbClr val="111928"/>
                </a:solidFill>
                <a:latin typeface="Calibri"/>
              </a:rPr>
              <a:t/>
            </a:r>
          </a:p>
        </p:txBody>
      </p:sp>
      <p:pic>
        <p:nvPicPr>
          <p:cNvPr id="9" name="Picture 8"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Domains 3 and 4 — Tied at 20% Each</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Domains 3 and 4 are tied at 20% each, and together they account for 40% of the exam.</a:t>
            </a:r>
          </a:p>
          <a:p>
            <a:pPr>
              <a:spcBef>
                <a:spcPts val="400"/>
              </a:spcBef>
            </a:pPr>
            <a:r>
              <a:rPr sz="2000">
                <a:solidFill>
                  <a:srgbClr val="111928"/>
                </a:solidFill>
                <a:latin typeface="Calibri"/>
              </a:rPr>
              <a:t>Domain 3 — Claude Code Configuration — covers CLAUDE.md hierarchy, the `.claude/` directory structure, skills, slash commands, custom rules, CI/CD integration, and plan mode.</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Domains 3 and 4 — Tied at 20% Each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Domain 4 — Prompt Engineering and Structured Output — covers when to use few-shot examples, how to enforce structured output through `tool_choice`, the Message Batches API, validation-retry patterns, and multi-instance review architectures.</a:t>
            </a:r>
          </a:p>
          <a:p>
            <a:pPr>
              <a:spcBef>
                <a:spcPts val="400"/>
              </a:spcBef>
            </a:pPr>
            <a:r>
              <a:rPr sz="2000">
                <a:solidFill>
                  <a:srgbClr val="111928"/>
                </a:solidFill>
                <a:latin typeface="Calibri"/>
              </a:rPr>
              <a:t>These two domains reward hands-on experience. If you've built real Claude Code workflows or prompt pipelines, a lot of this domain will feel familiar.</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Domain 2 — Tool Design &amp; MCP (18%)</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Domain 2 — Tool Design and Model Context Protocol — weighs in at 18%.</a:t>
            </a:r>
          </a:p>
          <a:p>
            <a:pPr>
              <a:spcBef>
                <a:spcPts val="400"/>
              </a:spcBef>
            </a:pPr>
            <a:r>
              <a:rPr sz="2000">
                <a:solidFill>
                  <a:srgbClr val="111928"/>
                </a:solidFill>
                <a:latin typeface="Calibri"/>
              </a:rPr>
              <a:t>This domain covers how to write tool descriptions that Claude actually selects correctly, how to structure MCP error responses, how to configure MCP servers at project and user scope, and when to use MCP resources versus MCP tools.</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Domain 2 — Tool Design &amp; MCP (18%)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most exam-critical concept in Domain 2 is the error response structure: every tool error needs three fields — `errorCategory`, `isRetryable`, and a human-readable description. Miss one of these on the exam and you'll pick a distractor that looks almost right.</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Domain 5 — Context Management &amp; Reliability (15%)</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Domain 5 — Context Management and Reliability — is the smallest domain at 15%.</a:t>
            </a:r>
          </a:p>
          <a:p>
            <a:pPr>
              <a:spcBef>
                <a:spcPts val="400"/>
              </a:spcBef>
            </a:pPr>
            <a:r>
              <a:rPr sz="2000">
                <a:solidFill>
                  <a:srgbClr val="111928"/>
                </a:solidFill>
                <a:latin typeface="Calibri"/>
              </a:rPr>
              <a:t>It covers how to manage long context windows, when and how to escalate to a human agent, how to propagate errors across multi-agent systems, and how to handle conflicting information from multiple sources.</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Domain 5 — Context Management &amp; Reliability (15%)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Domain 5 has a higher value-per-study-hour ratio than its weight suggests. The escalation decision framework appears in at least two of the six scenarios, and the "lost in the middle" effect is a common trap question. Spend at least one study session here even if time is short.</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How to Use the Weights</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domain weights tell you where to invest your study time.</a:t>
            </a:r>
          </a:p>
          <a:p>
            <a:pPr>
              <a:spcBef>
                <a:spcPts val="400"/>
              </a:spcBef>
            </a:pPr>
            <a:r>
              <a:rPr sz="2000">
                <a:solidFill>
                  <a:srgbClr val="111928"/>
                </a:solidFill>
                <a:latin typeface="Calibri"/>
              </a:rPr>
              <a:t>With two or more weeks, work through each section sequentially in this course. Domains are ordered by weight — you automatically prioritize correctly.</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How to Use the Weights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With one week, spend half your time on Domain 1, then split the remaining time between Domains 3 and 4 (the tied 20% domains), and use any remaining time for Domains 2 and 5.</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How to Use the Weights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If your exam is tomorrow? Go to Section 9 first — the 20 things you must know cold. Then take the practice exam in Section 8. Then review your weakest domain's cheat sheet.</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3A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lgn="ctr"/>
            <a:r>
              <a:rPr sz="3600" b="1" i="0">
                <a:solidFill>
                  <a:srgbClr val="FFFFFF"/>
                </a:solidFill>
                <a:latin typeface="Calibri"/>
              </a:rPr>
              <a:t>EXAM TIP</a:t>
            </a:r>
          </a:p>
        </p:txBody>
      </p:sp>
      <p:sp>
        <p:nvSpPr>
          <p:cNvPr id="4" name="TextBox 3"/>
          <p:cNvSpPr txBox="1"/>
          <p:nvPr/>
        </p:nvSpPr>
        <p:spPr>
          <a:xfrm>
            <a:off x="457200" y="1325880"/>
            <a:ext cx="11277295" cy="640080"/>
          </a:xfrm>
          <a:prstGeom prst="rect">
            <a:avLst/>
          </a:prstGeom>
          <a:noFill/>
        </p:spPr>
        <p:txBody>
          <a:bodyPr wrap="square">
            <a:spAutoFit/>
          </a:bodyPr>
          <a:lstStyle/>
          <a:p>
            <a:pPr algn="ctr"/>
            <a:r>
              <a:rPr sz="2200" b="1" i="0">
                <a:solidFill>
                  <a:srgbClr val="1A3A4A"/>
                </a:solidFill>
                <a:latin typeface="Calibri"/>
              </a:rPr>
              <a:t>Exam Tip</a:t>
            </a:r>
          </a:p>
        </p:txBody>
      </p:sp>
      <p:sp>
        <p:nvSpPr>
          <p:cNvPr id="5" name="Rectangle 4"/>
          <p:cNvSpPr/>
          <p:nvPr/>
        </p:nvSpPr>
        <p:spPr>
          <a:xfrm>
            <a:off x="365760" y="2103120"/>
            <a:ext cx="5303520" cy="4114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94560"/>
            <a:ext cx="4937760" cy="457200"/>
          </a:xfrm>
          <a:prstGeom prst="rect">
            <a:avLst/>
          </a:prstGeom>
          <a:noFill/>
        </p:spPr>
        <p:txBody>
          <a:bodyPr wrap="square">
            <a:spAutoFit/>
          </a:bodyPr>
          <a:lstStyle/>
          <a:p>
            <a:pPr algn="l"/>
            <a:r>
              <a:rPr sz="1800" b="1" i="0">
                <a:solidFill>
                  <a:srgbClr val="C0392B"/>
                </a:solidFill>
                <a:latin typeface="Calibri"/>
              </a:rPr>
              <a:t>The Trap</a:t>
            </a:r>
          </a:p>
        </p:txBody>
      </p:sp>
      <p:sp>
        <p:nvSpPr>
          <p:cNvPr id="7" name="TextBox 6"/>
          <p:cNvSpPr txBox="1"/>
          <p:nvPr/>
        </p:nvSpPr>
        <p:spPr>
          <a:xfrm>
            <a:off x="548640" y="2743200"/>
            <a:ext cx="4937760" cy="3200400"/>
          </a:xfrm>
          <a:prstGeom prst="rect">
            <a:avLst/>
          </a:prstGeom>
          <a:noFill/>
        </p:spPr>
        <p:txBody>
          <a:bodyPr wrap="square">
            <a:spAutoFit/>
          </a:bodyPr>
          <a:lstStyle/>
          <a:p>
            <a:pPr algn="l"/>
            <a:r>
              <a:rPr sz="1600" b="0" i="0">
                <a:solidFill>
                  <a:srgbClr val="111928"/>
                </a:solidFill>
                <a:latin typeface="Calibri"/>
              </a:rPr>
              <a:t>A common mistake is treating all five domains as equally important and spreading study time evenly.</a:t>
            </a:r>
            <a:br/>
            <a:br/>
            <a:r>
              <a:t>Domain 1 at 27% is nearly twice the weight of Domain 5 at 15%.</a:t>
            </a:r>
            <a:br/>
            <a:br/>
            <a:r>
              <a:t>The right approach: weight your stu</a:t>
            </a:r>
          </a:p>
        </p:txBody>
      </p:sp>
      <p:sp>
        <p:nvSpPr>
          <p:cNvPr id="8" name="Rectangle 7"/>
          <p:cNvSpPr/>
          <p:nvPr/>
        </p:nvSpPr>
        <p:spPr>
          <a:xfrm>
            <a:off x="6522415" y="2103120"/>
            <a:ext cx="5303520" cy="411480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05295" y="2194560"/>
            <a:ext cx="4937760" cy="457200"/>
          </a:xfrm>
          <a:prstGeom prst="rect">
            <a:avLst/>
          </a:prstGeom>
          <a:noFill/>
        </p:spPr>
        <p:txBody>
          <a:bodyPr wrap="square">
            <a:spAutoFit/>
          </a:bodyPr>
          <a:lstStyle/>
          <a:p>
            <a:pPr algn="l"/>
            <a:r>
              <a:rPr sz="1800" b="1" i="0">
                <a:solidFill>
                  <a:srgbClr val="1B8A5A"/>
                </a:solidFill>
                <a:latin typeface="Calibri"/>
              </a:rPr>
              <a:t>Correct Approach</a:t>
            </a:r>
          </a:p>
        </p:txBody>
      </p:sp>
      <p:sp>
        <p:nvSpPr>
          <p:cNvPr id="10" name="TextBox 9"/>
          <p:cNvSpPr txBox="1"/>
          <p:nvPr/>
        </p:nvSpPr>
        <p:spPr>
          <a:xfrm>
            <a:off x="6705295" y="2743200"/>
            <a:ext cx="4937760" cy="3200400"/>
          </a:xfrm>
          <a:prstGeom prst="rect">
            <a:avLst/>
          </a:prstGeom>
          <a:noFill/>
        </p:spPr>
        <p:txBody>
          <a:bodyPr wrap="square">
            <a:spAutoFit/>
          </a:bodyPr>
          <a:lstStyle/>
          <a:p>
            <a:pPr algn="l"/>
            <a:r>
              <a:rPr sz="1600" b="0" i="0">
                <a:solidFill>
                  <a:srgbClr val="111928"/>
                </a:solidFill>
                <a:latin typeface="Calibri"/>
              </a:rPr>
              <a:t/>
            </a:r>
          </a:p>
        </p:txBody>
      </p:sp>
      <p:pic>
        <p:nvPicPr>
          <p:cNvPr id="11" name="Picture 10"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3A4A"/>
        </a:solidFill>
        <a:effectLst/>
      </p:bgPr>
    </p:bg>
    <p:spTree>
      <p:nvGrpSpPr>
        <p:cNvPr id="1" name=""/>
        <p:cNvGrpSpPr/>
        <p:nvPr/>
      </p:nvGrpSpPr>
      <p:grpSpPr/>
      <p:sp>
        <p:nvSpPr>
          <p:cNvPr id="2" name="Rectangle 1"/>
          <p:cNvSpPr/>
          <p:nvPr/>
        </p:nvSpPr>
        <p:spPr>
          <a:xfrm>
            <a:off x="0" y="4572000"/>
            <a:ext cx="12191695" cy="228600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75488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7295" cy="822960"/>
          </a:xfrm>
          <a:prstGeom prst="rect">
            <a:avLst/>
          </a:prstGeom>
          <a:noFill/>
        </p:spPr>
        <p:txBody>
          <a:bodyPr wrap="square">
            <a:spAutoFit/>
          </a:bodyPr>
          <a:lstStyle/>
          <a:p>
            <a:pPr algn="l"/>
            <a:r>
              <a:rPr sz="3600" b="1" i="0">
                <a:solidFill>
                  <a:srgbClr val="FFFFFF"/>
                </a:solidFill>
                <a:latin typeface="Calibri"/>
              </a:rPr>
              <a:t>What to Remember</a:t>
            </a:r>
          </a:p>
        </p:txBody>
      </p:sp>
      <p:sp>
        <p:nvSpPr>
          <p:cNvPr id="5" name="Rectangle 4"/>
          <p:cNvSpPr/>
          <p:nvPr/>
        </p:nvSpPr>
        <p:spPr>
          <a:xfrm>
            <a:off x="457200" y="1051560"/>
            <a:ext cx="11277295" cy="36576"/>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34440"/>
            <a:ext cx="10972800" cy="594360"/>
          </a:xfrm>
          <a:prstGeom prst="rect">
            <a:avLst/>
          </a:prstGeom>
          <a:noFill/>
        </p:spPr>
        <p:txBody>
          <a:bodyPr wrap="square">
            <a:spAutoFit/>
          </a:bodyPr>
          <a:lstStyle/>
          <a:p>
            <a:pPr algn="l"/>
            <a:r>
              <a:rPr sz="2000" b="0" i="0">
                <a:solidFill>
                  <a:srgbClr val="FFFFFF"/>
                </a:solidFill>
                <a:latin typeface="Calibri"/>
              </a:rPr>
              <a:t>Domain 1: Agentic Architecture — **27%** (highest weight, start here)</a:t>
            </a:r>
          </a:p>
        </p:txBody>
      </p:sp>
      <p:sp>
        <p:nvSpPr>
          <p:cNvPr id="8" name="Rectangle 7"/>
          <p:cNvSpPr/>
          <p:nvPr/>
        </p:nvSpPr>
        <p:spPr>
          <a:xfrm>
            <a:off x="457200" y="1984248"/>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92808"/>
            <a:ext cx="10972800" cy="594360"/>
          </a:xfrm>
          <a:prstGeom prst="rect">
            <a:avLst/>
          </a:prstGeom>
          <a:noFill/>
        </p:spPr>
        <p:txBody>
          <a:bodyPr wrap="square">
            <a:spAutoFit/>
          </a:bodyPr>
          <a:lstStyle/>
          <a:p>
            <a:pPr algn="l"/>
            <a:r>
              <a:rPr sz="2000" b="0" i="0">
                <a:solidFill>
                  <a:srgbClr val="FFFFFF"/>
                </a:solidFill>
                <a:latin typeface="Calibri"/>
              </a:rPr>
              <a:t>Domain 3: Claude Code Config — **20%** (tied for second)</a:t>
            </a:r>
          </a:p>
        </p:txBody>
      </p:sp>
      <p:sp>
        <p:nvSpPr>
          <p:cNvPr id="10" name="Rectangle 9"/>
          <p:cNvSpPr/>
          <p:nvPr/>
        </p:nvSpPr>
        <p:spPr>
          <a:xfrm>
            <a:off x="457200" y="2642616"/>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51176"/>
            <a:ext cx="10972800" cy="594360"/>
          </a:xfrm>
          <a:prstGeom prst="rect">
            <a:avLst/>
          </a:prstGeom>
          <a:noFill/>
        </p:spPr>
        <p:txBody>
          <a:bodyPr wrap="square">
            <a:spAutoFit/>
          </a:bodyPr>
          <a:lstStyle/>
          <a:p>
            <a:pPr algn="l"/>
            <a:r>
              <a:rPr sz="2000" b="0" i="0">
                <a:solidFill>
                  <a:srgbClr val="FFFFFF"/>
                </a:solidFill>
                <a:latin typeface="Calibri"/>
              </a:rPr>
              <a:t>Domain 4: Prompt Engineering — **20%** (tied for second)</a:t>
            </a:r>
          </a:p>
        </p:txBody>
      </p:sp>
      <p:sp>
        <p:nvSpPr>
          <p:cNvPr id="12" name="Rectangle 11"/>
          <p:cNvSpPr/>
          <p:nvPr/>
        </p:nvSpPr>
        <p:spPr>
          <a:xfrm>
            <a:off x="457200" y="3300984"/>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09544"/>
            <a:ext cx="10972800" cy="594360"/>
          </a:xfrm>
          <a:prstGeom prst="rect">
            <a:avLst/>
          </a:prstGeom>
          <a:noFill/>
        </p:spPr>
        <p:txBody>
          <a:bodyPr wrap="square">
            <a:spAutoFit/>
          </a:bodyPr>
          <a:lstStyle/>
          <a:p>
            <a:pPr algn="l"/>
            <a:r>
              <a:rPr sz="2000" b="0" i="0">
                <a:solidFill>
                  <a:srgbClr val="FFFFFF"/>
                </a:solidFill>
                <a:latin typeface="Calibri"/>
              </a:rPr>
              <a:t>Domain 2: Tool Design &amp; MCP — **18%**</a:t>
            </a:r>
          </a:p>
        </p:txBody>
      </p:sp>
      <p:sp>
        <p:nvSpPr>
          <p:cNvPr id="14" name="Rectangle 13"/>
          <p:cNvSpPr/>
          <p:nvPr/>
        </p:nvSpPr>
        <p:spPr>
          <a:xfrm>
            <a:off x="457200" y="3959352"/>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867912"/>
            <a:ext cx="10972800" cy="594360"/>
          </a:xfrm>
          <a:prstGeom prst="rect">
            <a:avLst/>
          </a:prstGeom>
          <a:noFill/>
        </p:spPr>
        <p:txBody>
          <a:bodyPr wrap="square">
            <a:spAutoFit/>
          </a:bodyPr>
          <a:lstStyle/>
          <a:p>
            <a:pPr algn="l"/>
            <a:r>
              <a:rPr sz="2000" b="0" i="0">
                <a:solidFill>
                  <a:srgbClr val="FFFFFF"/>
                </a:solidFill>
                <a:latin typeface="Calibri"/>
              </a:rPr>
              <a:t>Domain 5: Context Management — **15%** (lowest weight — still worth studying)</a:t>
            </a:r>
          </a:p>
        </p:txBody>
      </p:sp>
      <p:sp>
        <p:nvSpPr>
          <p:cNvPr id="16" name="Rectangle 15"/>
          <p:cNvSpPr/>
          <p:nvPr/>
        </p:nvSpPr>
        <p:spPr>
          <a:xfrm>
            <a:off x="457200" y="4617720"/>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526280"/>
            <a:ext cx="10972800" cy="594360"/>
          </a:xfrm>
          <a:prstGeom prst="rect">
            <a:avLst/>
          </a:prstGeom>
          <a:noFill/>
        </p:spPr>
        <p:txBody>
          <a:bodyPr wrap="square">
            <a:spAutoFit/>
          </a:bodyPr>
          <a:lstStyle/>
          <a:p>
            <a:pPr algn="l"/>
            <a:r>
              <a:rPr sz="2000" b="0" i="0">
                <a:solidFill>
                  <a:srgbClr val="FFFFFF"/>
                </a:solidFill>
                <a:latin typeface="Calibri"/>
              </a:rPr>
              <a:t>**Total: 100%** — you need 72% overall to pass</a:t>
            </a:r>
          </a:p>
        </p:txBody>
      </p:sp>
      <p:pic>
        <p:nvPicPr>
          <p:cNvPr id="18" name="Picture 17"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